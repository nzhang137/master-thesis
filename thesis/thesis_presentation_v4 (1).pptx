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738F9D-990B-4CE8-911F-98C990CA8010}">
  <a:tblStyle styleId="{1E738F9D-990B-4CE8-911F-98C990CA801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7CAA638-BD55-46E4-8878-B219BF0B1DA8}"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this presentation, I present my revised thesis direction. The main idea is to study Rewarded-Soups-style model merging in many-objective NLP alignment. Instead of using the user preference vector directly as interpolation coefficients, I investigate whether conflict-aware mechanisms can help derive corrected, preference-aware merge coefficients within the same interpolation family.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starting point is the assumption that user preferences can be used directly as interpolation coefficients. This is convenient, but it assumes a linear correspondence between reward-space preferences and parameter-space model merging. In many-objective settings, objectives may reinforce, suppress, or duplicate each other. Therefore, the thesis investigates whether corrected coefficients can be derived from both user preferences and objective relationship structure.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With more than three objectives, inter-objective relationships hold enough structure to meaningfully influence Pareto performance </a:t>
            </a:r>
            <a:endParaRPr/>
          </a:p>
          <a:p>
            <a:pPr indent="0" lvl="0" marL="0" marR="381000" rtl="0" algn="l">
              <a:lnSpc>
                <a:spcPct val="115000"/>
              </a:lnSpc>
              <a:spcBef>
                <a:spcPts val="1200"/>
              </a:spcBef>
              <a:spcAft>
                <a:spcPts val="0"/>
              </a:spcAft>
              <a:buClr>
                <a:schemeClr val="dk1"/>
              </a:buClr>
              <a:buSzPts val="1100"/>
              <a:buFont typeface="Arial"/>
              <a:buNone/>
            </a:pPr>
            <a:r>
              <a:rPr lang="en-US"/>
              <a:t>The reason for focusing on many-objective settings is that the relationship structure becomes much richer. With two objectives, the trade-off can often be inspected by a simple sweep. With four or five objectives, however, we get many pairwise relationships, including alignment, conflict, and redundancy. This is where relationship-aware coefficient correction becomes more meaningful.</a:t>
            </a:r>
            <a:endParaRPr/>
          </a:p>
          <a:p>
            <a:pPr indent="0" lvl="0" marL="0" rtl="0" algn="l">
              <a:lnSpc>
                <a:spcPct val="100000"/>
              </a:lnSpc>
              <a:spcBef>
                <a:spcPts val="120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Rewarded Soups is the main baseline for my thesis. It trains several reward-specialized models from the same base model and then interpolates them in weight space. I rewrite this interpolation using task vectors, because this makes the connection to objective geometry explicit. The key limitation for my thesis is that the coefficient choice does not explicitly account for relationships between objectives. My idea is to use the geometry of these task vectors, and later coefficient-space sensitivities, to correct the raw preference vector. </a:t>
            </a:r>
            <a:endParaRPr/>
          </a:p>
        </p:txBody>
      </p:sp>
      <p:sp>
        <p:nvSpPr>
          <p:cNvPr id="54" name="Google Shape;5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MGDA, PCGrad, and CAGrad are not model-merging methods by default. They are gradient-based methods for handling conflicts in multi-objective training. However, their principles are highly relevant: MGDA provides a balancing idea, PCGrad provides a projection-based conflict correction, and CAGrad provides a preference-anchored conflict-averse update. In my thesis, I adapt these ideas to the model merging setting, where the goal is not to update model parameters during training, but to derive better merge coefficients.</a:t>
            </a:r>
            <a:endParaRPr/>
          </a:p>
          <a:p>
            <a:pPr indent="0" lvl="0" marL="0" rtl="0" algn="l">
              <a:lnSpc>
                <a:spcPct val="100000"/>
              </a:lnSpc>
              <a:spcBef>
                <a:spcPts val="1200"/>
              </a:spcBef>
              <a:spcAft>
                <a:spcPts val="0"/>
              </a:spcAft>
              <a:buSzPts val="1400"/>
              <a:buNone/>
            </a:pPr>
            <a:r>
              <a:t/>
            </a:r>
            <a:endParaRPr/>
          </a:p>
        </p:txBody>
      </p:sp>
      <p:sp>
        <p:nvSpPr>
          <p:cNvPr id="77" name="Google Shape;7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These datasets provide the many-objective setting for the thesis. UltraFeedback gives four interpretable reward dimensions, while HelpSteer provides five human-annotated attributes. I do not want to assume the relationship structure in advance. Instead, these datasets provide candidate objectives where complementarity, conflict, and redundancy can be empirically measured through task-vector geometry and coefficient-space sensitivities.</a:t>
            </a:r>
            <a:endParaRPr/>
          </a:p>
          <a:p>
            <a:pPr indent="0" lvl="0" marL="0" rtl="0" algn="l">
              <a:lnSpc>
                <a:spcPct val="100000"/>
              </a:lnSpc>
              <a:spcBef>
                <a:spcPts val="1200"/>
              </a:spcBef>
              <a:spcAft>
                <a:spcPts val="0"/>
              </a:spcAft>
              <a:buSzPts val="1400"/>
              <a:buNone/>
            </a:pPr>
            <a:r>
              <a:t/>
            </a:r>
            <a:endParaRPr/>
          </a:p>
        </p:txBody>
      </p:sp>
      <p:sp>
        <p:nvSpPr>
          <p:cNvPr id="114" name="Google Shape;11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MoE = Mixture of Experts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ArmoRM and DPA are important because they motivate the multi-objective preference setting. ArmoRM shows that reward models can output multiple interpretable reward dimensions, while DPA treats user preferences as directions in such a reward space. My thesis uses this as motivation to distinguish the user preference vector from the model-merging coefficient vector. The central question is how to translate a reward-space preference into parameter-space merge coefficients. </a:t>
            </a:r>
            <a:endParaRPr/>
          </a:p>
        </p:txBody>
      </p:sp>
      <p:sp>
        <p:nvSpPr>
          <p:cNvPr id="132" name="Google Shape;13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slide introduces the central object of the methodology: the task vector. Each specialist can be represented as a displacement from the shared base model. The key idea is that the geometry of these displacements may reveal how objectives interact. Positive alignment may indicate complementarity, negative alignment may indicate conflict, and near-identical directions may indicate redundancy. However, this is only a proxy. One part of the thesis is therefore to test whether task-vector geometry actually explains behavior in reward space. </a:t>
            </a:r>
            <a:endParaRPr/>
          </a:p>
        </p:txBody>
      </p:sp>
      <p:sp>
        <p:nvSpPr>
          <p:cNvPr id="148" name="Google Shape;14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core of the proposed method. The task vectors define the interpolation family. Then, instead of only looking at raw task-vector dot products, I define induced objectives in coefficient space. The gradient ∇λFj​ tells me how objective j reacts when I change the merge coefficients. This allows me to estimate an objective relationship structure RRR directly inside the Rewarded-Soups family. The final goal is to use p and R together to compute corrected coefficients λ∗. </a:t>
            </a:r>
            <a:endParaRPr/>
          </a:p>
        </p:txBody>
      </p:sp>
      <p:sp>
        <p:nvSpPr>
          <p:cNvPr id="176" name="Google Shape;1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slide summarizes the proposed variants and how they will be evaluated. All methods operate within the same Rewarded-Soups interpolation family and use the same specialists, task vectors, reward models, and user preferences. The only difference is how the merge coefficients are selected. The main evaluation metric is preference-weighted utility, but the more important metric is within-family regret, because it directly measures how close each method gets to the best reachable coefficient vector inside the interpolation family. </a:t>
            </a:r>
            <a:endParaRPr/>
          </a:p>
        </p:txBody>
      </p:sp>
      <p:sp>
        <p:nvSpPr>
          <p:cNvPr id="215" name="Google Shape;21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research questions are designed to separate three aspects. First, I want to understand when direct preference interpolation is insufficient. Second, I want to test whether conflict-aware coefficient correction improves utility and within-family regret. Third, I want to compare the proposed variants and analyze under which objective relationship structures the correction is most useful. So the thesis is not only about whether the method improves performance, but also about explaining when and why it does. </a:t>
            </a:r>
            <a:endParaRPr/>
          </a:p>
        </p:txBody>
      </p:sp>
      <p:sp>
        <p:nvSpPr>
          <p:cNvPr id="225" name="Google Shape;22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 plan to structure the thesis around a realistic core scope. The core implementation will focus on UltraFeedback, Rewarded-Soups-style baselines, and two main variants: MGDA-Soup and PCGrad-Soup. CAGrad-Soup, HelpSteer, Hypervolume, and layer-wise relationship analysis are planned as extensions if time permits. This keeps the project feasible while still allowing a meaningful evaluation of the main research hypothesis. </a:t>
            </a:r>
            <a:endParaRPr/>
          </a:p>
        </p:txBody>
      </p:sp>
      <p:sp>
        <p:nvSpPr>
          <p:cNvPr id="252" name="Google Shape;25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5A"/>
        </a:solidFill>
      </p:bgPr>
    </p:bg>
    <p:spTree>
      <p:nvGrpSpPr>
        <p:cNvPr id="15" name="Shape 15"/>
        <p:cNvGrpSpPr/>
        <p:nvPr/>
      </p:nvGrpSpPr>
      <p:grpSpPr>
        <a:xfrm>
          <a:off x="0" y="0"/>
          <a:ext cx="0" cy="0"/>
          <a:chOff x="0" y="0"/>
          <a:chExt cx="0" cy="0"/>
        </a:xfrm>
      </p:grpSpPr>
      <p:sp>
        <p:nvSpPr>
          <p:cNvPr id="16" name="Google Shape;16;p3"/>
          <p:cNvSpPr/>
          <p:nvPr/>
        </p:nvSpPr>
        <p:spPr>
          <a:xfrm>
            <a:off x="0" y="4114800"/>
            <a:ext cx="9144000" cy="1028700"/>
          </a:xfrm>
          <a:prstGeom prst="rect">
            <a:avLst/>
          </a:prstGeom>
          <a:solidFill>
            <a:srgbClr val="0288D1"/>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p:nvPr/>
        </p:nvSpPr>
        <p:spPr>
          <a:xfrm>
            <a:off x="548640" y="731520"/>
            <a:ext cx="8046720" cy="10058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Preference-Aware Coefficient Correction</a:t>
            </a:r>
            <a:endParaRPr b="0" i="0" sz="3800" u="none" cap="none" strike="noStrike">
              <a:solidFill>
                <a:schemeClr val="dk1"/>
              </a:solidFill>
              <a:latin typeface="Calibri"/>
              <a:ea typeface="Calibri"/>
              <a:cs typeface="Calibri"/>
              <a:sym typeface="Calibri"/>
            </a:endParaRPr>
          </a:p>
        </p:txBody>
      </p:sp>
      <p:sp>
        <p:nvSpPr>
          <p:cNvPr id="18" name="Google Shape;18;p3"/>
          <p:cNvSpPr/>
          <p:nvPr/>
        </p:nvSpPr>
        <p:spPr>
          <a:xfrm>
            <a:off x="548640" y="1691640"/>
            <a:ext cx="804672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ADCFC"/>
              </a:buClr>
              <a:buSzPts val="2200"/>
              <a:buFont typeface="Calibri"/>
              <a:buNone/>
            </a:pPr>
            <a:r>
              <a:rPr b="0" i="0" lang="en-US" sz="2200" u="none" cap="none" strike="noStrike">
                <a:solidFill>
                  <a:srgbClr val="CADCFC"/>
                </a:solidFill>
                <a:latin typeface="Calibri"/>
                <a:ea typeface="Calibri"/>
                <a:cs typeface="Calibri"/>
                <a:sym typeface="Calibri"/>
              </a:rPr>
              <a:t>for Rewarded Soups in Many-Objective NLP Alignment</a:t>
            </a:r>
            <a:endParaRPr b="0" i="0" sz="2200" u="none" cap="none" strike="noStrike">
              <a:solidFill>
                <a:schemeClr val="dk1"/>
              </a:solidFill>
              <a:latin typeface="Calibri"/>
              <a:ea typeface="Calibri"/>
              <a:cs typeface="Calibri"/>
              <a:sym typeface="Calibri"/>
            </a:endParaRPr>
          </a:p>
        </p:txBody>
      </p:sp>
      <p:sp>
        <p:nvSpPr>
          <p:cNvPr id="19" name="Google Shape;19;p3"/>
          <p:cNvSpPr/>
          <p:nvPr/>
        </p:nvSpPr>
        <p:spPr>
          <a:xfrm>
            <a:off x="548640" y="2560320"/>
            <a:ext cx="804672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0CAF9"/>
              </a:buClr>
              <a:buSzPts val="1300"/>
              <a:buFont typeface="Calibri"/>
              <a:buNone/>
            </a:pPr>
            <a:r>
              <a:rPr b="0" i="0" lang="en-US" sz="1300" u="none" cap="none" strike="noStrike">
                <a:solidFill>
                  <a:srgbClr val="90CAF9"/>
                </a:solidFill>
                <a:latin typeface="Calibri"/>
                <a:ea typeface="Calibri"/>
                <a:cs typeface="Calibri"/>
                <a:sym typeface="Calibri"/>
              </a:rPr>
              <a:t>Master’s Thesis Proposal</a:t>
            </a:r>
            <a:endParaRPr b="0" i="0" sz="1300" u="none" cap="none" strike="noStrike">
              <a:solidFill>
                <a:schemeClr val="dk1"/>
              </a:solidFill>
              <a:latin typeface="Calibri"/>
              <a:ea typeface="Calibri"/>
              <a:cs typeface="Calibri"/>
              <a:sym typeface="Calibri"/>
            </a:endParaRPr>
          </a:p>
        </p:txBody>
      </p:sp>
      <p:sp>
        <p:nvSpPr>
          <p:cNvPr id="20" name="Google Shape;20;p3"/>
          <p:cNvSpPr/>
          <p:nvPr/>
        </p:nvSpPr>
        <p:spPr>
          <a:xfrm>
            <a:off x="548640" y="4114800"/>
            <a:ext cx="8046720" cy="102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4"/>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Challenge — The Linear Preference Assumption</a:t>
            </a:r>
            <a:endParaRPr b="0" i="0" sz="2200" u="none" cap="none" strike="noStrike">
              <a:solidFill>
                <a:schemeClr val="dk1"/>
              </a:solidFill>
              <a:latin typeface="Calibri"/>
              <a:ea typeface="Calibri"/>
              <a:cs typeface="Calibri"/>
              <a:sym typeface="Calibri"/>
            </a:endParaRPr>
          </a:p>
        </p:txBody>
      </p:sp>
      <p:sp>
        <p:nvSpPr>
          <p:cNvPr id="28" name="Google Shape;28;p4"/>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1 / 11</a:t>
            </a:r>
            <a:endParaRPr b="0" i="0" sz="1000" u="none" cap="none" strike="noStrike">
              <a:solidFill>
                <a:schemeClr val="dk1"/>
              </a:solidFill>
              <a:latin typeface="Calibri"/>
              <a:ea typeface="Calibri"/>
              <a:cs typeface="Calibri"/>
              <a:sym typeface="Calibri"/>
            </a:endParaRPr>
          </a:p>
        </p:txBody>
      </p:sp>
      <p:sp>
        <p:nvSpPr>
          <p:cNvPr id="29" name="Google Shape;29;p4"/>
          <p:cNvSpPr/>
          <p:nvPr/>
        </p:nvSpPr>
        <p:spPr>
          <a:xfrm>
            <a:off x="274320" y="685800"/>
            <a:ext cx="4023360" cy="1920240"/>
          </a:xfrm>
          <a:prstGeom prst="rect">
            <a:avLst/>
          </a:prstGeom>
          <a:solidFill>
            <a:srgbClr val="E3F2FD"/>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
          <p:cNvSpPr/>
          <p:nvPr/>
        </p:nvSpPr>
        <p:spPr>
          <a:xfrm>
            <a:off x="274320" y="685800"/>
            <a:ext cx="4023360" cy="274320"/>
          </a:xfrm>
          <a:prstGeom prst="rect">
            <a:avLst/>
          </a:prstGeom>
          <a:solidFill>
            <a:srgbClr val="0288D1"/>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
          <p:cNvSpPr/>
          <p:nvPr/>
        </p:nvSpPr>
        <p:spPr>
          <a:xfrm>
            <a:off x="274320" y="685800"/>
            <a:ext cx="40233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Direct Preference Baseline</a:t>
            </a:r>
            <a:endParaRPr b="0" i="0" sz="1100" u="none" cap="none" strike="noStrike">
              <a:solidFill>
                <a:schemeClr val="dk1"/>
              </a:solidFill>
              <a:latin typeface="Calibri"/>
              <a:ea typeface="Calibri"/>
              <a:cs typeface="Calibri"/>
              <a:sym typeface="Calibri"/>
            </a:endParaRPr>
          </a:p>
        </p:txBody>
      </p:sp>
      <p:sp>
        <p:nvSpPr>
          <p:cNvPr id="32" name="Google Shape;32;p4"/>
          <p:cNvSpPr/>
          <p:nvPr/>
        </p:nvSpPr>
        <p:spPr>
          <a:xfrm>
            <a:off x="411480" y="1005840"/>
            <a:ext cx="374904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300"/>
              <a:buFont typeface="Calibri"/>
              <a:buNone/>
            </a:pPr>
            <a:r>
              <a:rPr b="0" i="0" lang="en-US" sz="1300" u="none" cap="none" strike="noStrike">
                <a:solidFill>
                  <a:srgbClr val="1A1A2E"/>
                </a:solidFill>
                <a:latin typeface="Calibri"/>
                <a:ea typeface="Calibri"/>
                <a:cs typeface="Calibri"/>
                <a:sym typeface="Calibri"/>
              </a:rPr>
              <a:t>A simple preference-conditioned baseline sets the merge coefficients equal to the user preference: </a:t>
            </a:r>
            <a:br>
              <a:rPr b="0" i="0" lang="en-US" sz="1300" u="none" cap="none" strike="noStrike">
                <a:solidFill>
                  <a:srgbClr val="1A1A2E"/>
                </a:solidFill>
                <a:latin typeface="Calibri"/>
                <a:ea typeface="Calibri"/>
                <a:cs typeface="Calibri"/>
                <a:sym typeface="Calibri"/>
              </a:rPr>
            </a:br>
            <a:r>
              <a:rPr b="1" i="0" lang="en-US" sz="1300" u="none" cap="none" strike="noStrike">
                <a:solidFill>
                  <a:srgbClr val="1A2E5A"/>
                </a:solidFill>
                <a:latin typeface="Calibri"/>
                <a:ea typeface="Calibri"/>
                <a:cs typeface="Calibri"/>
                <a:sym typeface="Calibri"/>
              </a:rPr>
              <a:t>λ = p  (e.g. p = [0.6, 0.2, 0.1, 0.1])</a:t>
            </a:r>
            <a:br>
              <a:rPr b="1" i="0" lang="en-US" sz="1300" u="none" cap="none" strike="noStrike">
                <a:solidFill>
                  <a:srgbClr val="1A2E5A"/>
                </a:solidFill>
                <a:latin typeface="Calibri"/>
                <a:ea typeface="Calibri"/>
                <a:cs typeface="Calibri"/>
                <a:sym typeface="Calibri"/>
              </a:rPr>
            </a:br>
            <a:br>
              <a:rPr b="1" i="0" lang="en-US" sz="1300" u="none" cap="none" strike="noStrike">
                <a:solidFill>
                  <a:srgbClr val="1A2E5A"/>
                </a:solidFill>
                <a:latin typeface="Calibri"/>
                <a:ea typeface="Calibri"/>
                <a:cs typeface="Calibri"/>
                <a:sym typeface="Calibri"/>
              </a:rPr>
            </a:br>
            <a:r>
              <a:rPr b="0" i="0" lang="en-US" sz="1300" u="none" cap="none" strike="noStrike">
                <a:solidFill>
                  <a:srgbClr val="1A1A2E"/>
                </a:solidFill>
                <a:latin typeface="Calibri"/>
                <a:ea typeface="Calibri"/>
                <a:cs typeface="Calibri"/>
                <a:sym typeface="Calibri"/>
              </a:rPr>
              <a:t>Assumes linear correspondence:</a:t>
            </a:r>
            <a:br>
              <a:rPr b="0" i="0" lang="en-US" sz="1300" u="none" cap="none" strike="noStrike">
                <a:solidFill>
                  <a:srgbClr val="1A1A2E"/>
                </a:solidFill>
                <a:latin typeface="Calibri"/>
                <a:ea typeface="Calibri"/>
                <a:cs typeface="Calibri"/>
                <a:sym typeface="Calibri"/>
              </a:rPr>
            </a:br>
            <a:r>
              <a:rPr b="0" i="0" lang="en-US" sz="1300" u="none" cap="none" strike="noStrike">
                <a:solidFill>
                  <a:srgbClr val="000000"/>
                </a:solidFill>
                <a:latin typeface="Calibri"/>
                <a:ea typeface="Calibri"/>
                <a:cs typeface="Calibri"/>
                <a:sym typeface="Calibri"/>
              </a:rPr>
              <a:t>"60% weight on Objective 1 → model behaves 60% accordingly"</a:t>
            </a:r>
            <a:endParaRPr b="0" i="0" sz="1300" u="none" cap="none" strike="noStrike">
              <a:solidFill>
                <a:srgbClr val="000000"/>
              </a:solidFill>
              <a:latin typeface="Calibri"/>
              <a:ea typeface="Calibri"/>
              <a:cs typeface="Calibri"/>
              <a:sym typeface="Calibri"/>
            </a:endParaRPr>
          </a:p>
        </p:txBody>
      </p:sp>
      <p:sp>
        <p:nvSpPr>
          <p:cNvPr id="33" name="Google Shape;33;p4"/>
          <p:cNvSpPr/>
          <p:nvPr/>
        </p:nvSpPr>
        <p:spPr>
          <a:xfrm>
            <a:off x="4846320" y="685800"/>
            <a:ext cx="4023360" cy="1920240"/>
          </a:xfrm>
          <a:prstGeom prst="rect">
            <a:avLst/>
          </a:prstGeom>
          <a:solidFill>
            <a:srgbClr val="FFF3E0"/>
          </a:solidFill>
          <a:ln cap="flat" cmpd="sng" w="12700">
            <a:solidFill>
              <a:srgbClr val="FF6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
          <p:cNvSpPr/>
          <p:nvPr/>
        </p:nvSpPr>
        <p:spPr>
          <a:xfrm>
            <a:off x="4846320" y="685800"/>
            <a:ext cx="4023360" cy="274320"/>
          </a:xfrm>
          <a:prstGeom prst="rect">
            <a:avLst/>
          </a:prstGeom>
          <a:solidFill>
            <a:srgbClr val="FF6F00"/>
          </a:solidFill>
          <a:ln cap="flat" cmpd="sng" w="12700">
            <a:solidFill>
              <a:srgbClr val="FF6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4"/>
          <p:cNvSpPr/>
          <p:nvPr/>
        </p:nvSpPr>
        <p:spPr>
          <a:xfrm>
            <a:off x="4846320" y="685800"/>
            <a:ext cx="40233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This Assumption Breaks Down</a:t>
            </a:r>
            <a:endParaRPr b="0" i="0" sz="1100" u="none" cap="none" strike="noStrike">
              <a:solidFill>
                <a:schemeClr val="dk1"/>
              </a:solidFill>
              <a:latin typeface="Calibri"/>
              <a:ea typeface="Calibri"/>
              <a:cs typeface="Calibri"/>
              <a:sym typeface="Calibri"/>
            </a:endParaRPr>
          </a:p>
        </p:txBody>
      </p:sp>
      <p:sp>
        <p:nvSpPr>
          <p:cNvPr id="36" name="Google Shape;36;p4"/>
          <p:cNvSpPr/>
          <p:nvPr/>
        </p:nvSpPr>
        <p:spPr>
          <a:xfrm>
            <a:off x="4983480" y="1005840"/>
            <a:ext cx="374904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A1A2E"/>
                </a:solidFill>
                <a:latin typeface="Calibri"/>
                <a:ea typeface="Calibri"/>
                <a:cs typeface="Calibri"/>
                <a:sym typeface="Calibri"/>
              </a:rPr>
              <a:t>Objectives interact non-trivially:</a:t>
            </a:r>
            <a:endParaRPr b="1" i="0" sz="1300" u="none" cap="none" strike="noStrike">
              <a:solidFill>
                <a:srgbClr val="1A1A2E"/>
              </a:solidFill>
              <a:latin typeface="Calibri"/>
              <a:ea typeface="Calibri"/>
              <a:cs typeface="Calibri"/>
              <a:sym typeface="Calibri"/>
            </a:endParaRPr>
          </a:p>
          <a:p>
            <a:pPr indent="-311150" lvl="0" marL="457200" marR="0" rtl="0" algn="l">
              <a:lnSpc>
                <a:spcPct val="100000"/>
              </a:lnSpc>
              <a:spcBef>
                <a:spcPts val="0"/>
              </a:spcBef>
              <a:spcAft>
                <a:spcPts val="0"/>
              </a:spcAft>
              <a:buClr>
                <a:srgbClr val="000000"/>
              </a:buClr>
              <a:buSzPts val="1300"/>
              <a:buFont typeface="Calibri"/>
              <a:buChar char="●"/>
            </a:pPr>
            <a:r>
              <a:rPr b="0" i="0" lang="en-US" sz="1300" u="none" cap="none" strike="noStrike">
                <a:solidFill>
                  <a:srgbClr val="1A1A2E"/>
                </a:solidFill>
                <a:latin typeface="Calibri"/>
                <a:ea typeface="Calibri"/>
                <a:cs typeface="Calibri"/>
                <a:sym typeface="Calibri"/>
              </a:rPr>
              <a:t>Complementary pairs: objectives reinforce each other </a:t>
            </a:r>
            <a:endParaRPr b="0" i="0" sz="1300" u="none" cap="none" strike="noStrike">
              <a:solidFill>
                <a:srgbClr val="1A1A2E"/>
              </a:solidFill>
              <a:latin typeface="Calibri"/>
              <a:ea typeface="Calibri"/>
              <a:cs typeface="Calibri"/>
              <a:sym typeface="Calibri"/>
            </a:endParaRPr>
          </a:p>
          <a:p>
            <a:pPr indent="-311150" lvl="0" marL="457200" marR="0" rtl="0" algn="l">
              <a:lnSpc>
                <a:spcPct val="100000"/>
              </a:lnSpc>
              <a:spcBef>
                <a:spcPts val="0"/>
              </a:spcBef>
              <a:spcAft>
                <a:spcPts val="0"/>
              </a:spcAft>
              <a:buClr>
                <a:srgbClr val="000000"/>
              </a:buClr>
              <a:buSzPts val="1300"/>
              <a:buFont typeface="Calibri"/>
              <a:buChar char="●"/>
            </a:pPr>
            <a:r>
              <a:rPr b="0" i="0" lang="en-US" sz="1300" u="none" cap="none" strike="noStrike">
                <a:solidFill>
                  <a:srgbClr val="1A1A2E"/>
                </a:solidFill>
                <a:latin typeface="Calibri"/>
                <a:ea typeface="Calibri"/>
                <a:cs typeface="Calibri"/>
                <a:sym typeface="Calibri"/>
              </a:rPr>
              <a:t>Suppressive pairs: objectives interfere with each other </a:t>
            </a:r>
            <a:endParaRPr b="0" i="0" sz="1300" u="none" cap="none" strike="noStrike">
              <a:solidFill>
                <a:srgbClr val="1A1A2E"/>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6F00"/>
                </a:solidFill>
                <a:latin typeface="Calibri"/>
                <a:ea typeface="Calibri"/>
                <a:cs typeface="Calibri"/>
                <a:sym typeface="Calibri"/>
              </a:rPr>
              <a:t>Note: Rewarded Soups itself searches over λ; this thesis tests whether structure-aware correction (λ ≠ p) improves on the λ = p baseline.</a:t>
            </a:r>
            <a:endParaRPr b="0" i="0" sz="1300" u="none" cap="none" strike="noStrike">
              <a:solidFill>
                <a:schemeClr val="dk1"/>
              </a:solidFill>
              <a:latin typeface="Calibri"/>
              <a:ea typeface="Calibri"/>
              <a:cs typeface="Calibri"/>
              <a:sym typeface="Calibri"/>
            </a:endParaRPr>
          </a:p>
        </p:txBody>
      </p:sp>
      <p:sp>
        <p:nvSpPr>
          <p:cNvPr id="37" name="Google Shape;37;p4"/>
          <p:cNvSpPr/>
          <p:nvPr/>
        </p:nvSpPr>
        <p:spPr>
          <a:xfrm>
            <a:off x="274320" y="2697480"/>
            <a:ext cx="85953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100"/>
              <a:buFont typeface="Calibri"/>
              <a:buNone/>
            </a:pPr>
            <a:r>
              <a:rPr b="1" i="0" lang="en-US" sz="1100" u="none" cap="none" strike="noStrike">
                <a:solidFill>
                  <a:srgbClr val="1A2E5A"/>
                </a:solidFill>
                <a:latin typeface="Calibri"/>
                <a:ea typeface="Calibri"/>
                <a:cs typeface="Calibri"/>
                <a:sym typeface="Calibri"/>
              </a:rPr>
              <a:t>Possible Examples from UltraFeedback &amp; HelpSteer</a:t>
            </a:r>
            <a:endParaRPr b="0" i="0" sz="1100" u="none" cap="none" strike="noStrike">
              <a:solidFill>
                <a:schemeClr val="dk1"/>
              </a:solidFill>
              <a:latin typeface="Calibri"/>
              <a:ea typeface="Calibri"/>
              <a:cs typeface="Calibri"/>
              <a:sym typeface="Calibri"/>
            </a:endParaRPr>
          </a:p>
        </p:txBody>
      </p:sp>
      <p:graphicFrame>
        <p:nvGraphicFramePr>
          <p:cNvPr id="38" name="Google Shape;38;p4"/>
          <p:cNvGraphicFramePr/>
          <p:nvPr/>
        </p:nvGraphicFramePr>
        <p:xfrm>
          <a:off x="274320" y="2999232"/>
          <a:ext cx="3000000" cy="3000000"/>
        </p:xfrm>
        <a:graphic>
          <a:graphicData uri="http://schemas.openxmlformats.org/drawingml/2006/table">
            <a:tbl>
              <a:tblPr>
                <a:noFill/>
                <a:tableStyleId>{1E738F9D-990B-4CE8-911F-98C990CA8010}</a:tableStyleId>
              </a:tblPr>
              <a:tblGrid>
                <a:gridCol w="1463050"/>
                <a:gridCol w="3474725"/>
              </a:tblGrid>
              <a:tr h="411475">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Pair Type</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1A2E5A"/>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Example</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1A2E5A"/>
                    </a:solidFill>
                  </a:tcPr>
                </a:tc>
              </a:tr>
              <a:tr h="411475">
                <a:tc>
                  <a:txBody>
                    <a:bodyPr/>
                    <a:lstStyle/>
                    <a:p>
                      <a:pPr indent="0" lvl="0" marL="0" marR="0" rtl="0" algn="l">
                        <a:lnSpc>
                          <a:spcPct val="100000"/>
                        </a:lnSpc>
                        <a:spcBef>
                          <a:spcPts val="0"/>
                        </a:spcBef>
                        <a:spcAft>
                          <a:spcPts val="0"/>
                        </a:spcAft>
                        <a:buClr>
                          <a:srgbClr val="2E7D32"/>
                        </a:buClr>
                        <a:buSzPts val="1100"/>
                        <a:buFont typeface="Calibri"/>
                        <a:buNone/>
                      </a:pPr>
                      <a:r>
                        <a:rPr b="1" lang="en-US" sz="1100" u="none" cap="none" strike="noStrike">
                          <a:solidFill>
                            <a:srgbClr val="2E7D32"/>
                          </a:solidFill>
                          <a:latin typeface="Calibri"/>
                          <a:ea typeface="Calibri"/>
                          <a:cs typeface="Calibri"/>
                          <a:sym typeface="Calibri"/>
                        </a:rPr>
                        <a:t>Complementary</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Truthfulness + Instruction-Following (UltraFeedback)</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C62828"/>
                        </a:buClr>
                        <a:buSzPts val="1100"/>
                        <a:buFont typeface="Calibri"/>
                        <a:buNone/>
                      </a:pPr>
                      <a:r>
                        <a:rPr b="1" lang="en-US" sz="1100" u="none" cap="none" strike="noStrike">
                          <a:solidFill>
                            <a:srgbClr val="C62828"/>
                          </a:solidFill>
                          <a:latin typeface="Calibri"/>
                          <a:ea typeface="Calibri"/>
                          <a:cs typeface="Calibri"/>
                          <a:sym typeface="Calibri"/>
                        </a:rPr>
                        <a:t>Suppressive</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Honesty + Helpfulness (UltraFeedback)</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C62828"/>
                        </a:buClr>
                        <a:buSzPts val="1100"/>
                        <a:buFont typeface="Calibri"/>
                        <a:buNone/>
                      </a:pPr>
                      <a:r>
                        <a:rPr b="1" lang="en-US" sz="1100" u="none" cap="none" strike="noStrike">
                          <a:solidFill>
                            <a:srgbClr val="C62828"/>
                          </a:solidFill>
                          <a:latin typeface="Calibri"/>
                          <a:ea typeface="Calibri"/>
                          <a:cs typeface="Calibri"/>
                          <a:sym typeface="Calibri"/>
                        </a:rPr>
                        <a:t>Suppressive</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Verbosity + Correctness (HelpSteer)</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5"/>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Challenge — Why Many Objectives Matter</a:t>
            </a:r>
            <a:endParaRPr b="0" i="0" sz="2200" u="none" cap="none" strike="noStrike">
              <a:solidFill>
                <a:schemeClr val="dk1"/>
              </a:solidFill>
              <a:latin typeface="Calibri"/>
              <a:ea typeface="Calibri"/>
              <a:cs typeface="Calibri"/>
              <a:sym typeface="Calibri"/>
            </a:endParaRPr>
          </a:p>
        </p:txBody>
      </p:sp>
      <p:sp>
        <p:nvSpPr>
          <p:cNvPr id="46" name="Google Shape;46;p5"/>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2 / 11</a:t>
            </a:r>
            <a:endParaRPr b="0" i="0" sz="1000" u="none" cap="none" strike="noStrike">
              <a:solidFill>
                <a:schemeClr val="dk1"/>
              </a:solidFill>
              <a:latin typeface="Calibri"/>
              <a:ea typeface="Calibri"/>
              <a:cs typeface="Calibri"/>
              <a:sym typeface="Calibri"/>
            </a:endParaRPr>
          </a:p>
        </p:txBody>
      </p:sp>
      <p:sp>
        <p:nvSpPr>
          <p:cNvPr id="47" name="Google Shape;47;p5"/>
          <p:cNvSpPr/>
          <p:nvPr/>
        </p:nvSpPr>
        <p:spPr>
          <a:xfrm>
            <a:off x="274325" y="3228827"/>
            <a:ext cx="8595300" cy="1736400"/>
          </a:xfrm>
          <a:prstGeom prst="rect">
            <a:avLst/>
          </a:prstGeom>
          <a:solidFill>
            <a:srgbClr val="E8EAF6"/>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5"/>
          <p:cNvSpPr/>
          <p:nvPr/>
        </p:nvSpPr>
        <p:spPr>
          <a:xfrm>
            <a:off x="480063" y="3350780"/>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100"/>
              <a:buFont typeface="Calibri"/>
              <a:buNone/>
            </a:pPr>
            <a:r>
              <a:rPr b="1" i="0" lang="en-US" sz="1100" u="none" cap="none" strike="noStrike">
                <a:solidFill>
                  <a:srgbClr val="1A2E5A"/>
                </a:solidFill>
                <a:latin typeface="Calibri"/>
                <a:ea typeface="Calibri"/>
                <a:cs typeface="Calibri"/>
                <a:sym typeface="Calibri"/>
              </a:rPr>
              <a:t>Motivation:</a:t>
            </a:r>
            <a:endParaRPr b="0" i="0" sz="1100" u="none" cap="none" strike="noStrike">
              <a:solidFill>
                <a:schemeClr val="dk1"/>
              </a:solidFill>
              <a:latin typeface="Calibri"/>
              <a:ea typeface="Calibri"/>
              <a:cs typeface="Calibri"/>
              <a:sym typeface="Calibri"/>
            </a:endParaRPr>
          </a:p>
        </p:txBody>
      </p:sp>
      <p:sp>
        <p:nvSpPr>
          <p:cNvPr id="49" name="Google Shape;49;p5"/>
          <p:cNvSpPr/>
          <p:nvPr/>
        </p:nvSpPr>
        <p:spPr>
          <a:xfrm>
            <a:off x="457200" y="3624973"/>
            <a:ext cx="8229600" cy="12396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chemeClr val="dk1"/>
              </a:buClr>
              <a:buSzPts val="1100"/>
              <a:buFont typeface="Arial"/>
              <a:buNone/>
            </a:pPr>
            <a:r>
              <a:rPr b="0" i="0" lang="en-US" sz="1100" u="none" cap="none" strike="noStrike">
                <a:solidFill>
                  <a:schemeClr val="dk1"/>
                </a:solidFill>
                <a:latin typeface="Calibri"/>
                <a:ea typeface="Calibri"/>
                <a:cs typeface="Calibri"/>
                <a:sym typeface="Calibri"/>
              </a:rPr>
              <a:t>With more objectives, inter-objective relationships become more informative:</a:t>
            </a:r>
            <a:endParaRPr b="0" i="0" sz="1100" u="none" cap="none" strike="noStrike">
              <a:solidFill>
                <a:schemeClr val="dk1"/>
              </a:solidFill>
              <a:latin typeface="Calibri"/>
              <a:ea typeface="Calibri"/>
              <a:cs typeface="Calibri"/>
              <a:sym typeface="Calibri"/>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Calibri"/>
                <a:ea typeface="Calibri"/>
                <a:cs typeface="Calibri"/>
                <a:sym typeface="Calibri"/>
              </a:rPr>
              <a:t>alignment:</a:t>
            </a:r>
            <a:r>
              <a:rPr b="0" i="0" lang="en-US" sz="1100" u="none" cap="none" strike="noStrike">
                <a:solidFill>
                  <a:schemeClr val="dk1"/>
                </a:solidFill>
                <a:latin typeface="Calibri"/>
                <a:ea typeface="Calibri"/>
                <a:cs typeface="Calibri"/>
                <a:sym typeface="Calibri"/>
              </a:rPr>
              <a:t> objectives support each other</a:t>
            </a:r>
            <a:endParaRPr b="0" i="0" sz="1100" u="none" cap="none" strike="noStrike">
              <a:solidFill>
                <a:schemeClr val="dk1"/>
              </a:solidFill>
              <a:latin typeface="Calibri"/>
              <a:ea typeface="Calibri"/>
              <a:cs typeface="Calibri"/>
              <a:sym typeface="Calibri"/>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Calibri"/>
                <a:ea typeface="Calibri"/>
                <a:cs typeface="Calibri"/>
                <a:sym typeface="Calibri"/>
              </a:rPr>
              <a:t>conflict:</a:t>
            </a:r>
            <a:r>
              <a:rPr b="0" i="0" lang="en-US" sz="1100" u="none" cap="none" strike="noStrike">
                <a:solidFill>
                  <a:schemeClr val="dk1"/>
                </a:solidFill>
                <a:latin typeface="Calibri"/>
                <a:ea typeface="Calibri"/>
                <a:cs typeface="Calibri"/>
                <a:sym typeface="Calibri"/>
              </a:rPr>
              <a:t> objectives suppress each other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0" i="0" lang="en-US" sz="1100" u="none" cap="none" strike="noStrike">
                <a:solidFill>
                  <a:schemeClr val="dk1"/>
                </a:solidFill>
                <a:latin typeface="Calibri"/>
                <a:ea typeface="Calibri"/>
                <a:cs typeface="Calibri"/>
                <a:sym typeface="Calibri"/>
              </a:rPr>
              <a:t>This motivates relationship-aware coefficient correction:</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1A2E"/>
              </a:buClr>
              <a:buSzPts val="1300"/>
              <a:buFont typeface="Calibri"/>
              <a:buNone/>
            </a:pPr>
            <a:r>
              <a:rPr b="0" i="0" lang="en-US" sz="1100" u="none" cap="none" strike="noStrike">
                <a:solidFill>
                  <a:schemeClr val="dk1"/>
                </a:solidFill>
                <a:latin typeface="Calibri"/>
                <a:ea typeface="Calibri"/>
                <a:cs typeface="Calibri"/>
                <a:sym typeface="Calibri"/>
              </a:rPr>
              <a:t>λ = f(p, ℛ)</a:t>
            </a:r>
            <a:endParaRPr b="0" i="1" sz="1300" u="none" cap="none" strike="noStrike">
              <a:solidFill>
                <a:srgbClr val="1A1A2E"/>
              </a:solidFill>
              <a:latin typeface="Calibri"/>
              <a:ea typeface="Calibri"/>
              <a:cs typeface="Calibri"/>
              <a:sym typeface="Calibri"/>
            </a:endParaRPr>
          </a:p>
        </p:txBody>
      </p:sp>
      <p:graphicFrame>
        <p:nvGraphicFramePr>
          <p:cNvPr id="50" name="Google Shape;50;p5"/>
          <p:cNvGraphicFramePr/>
          <p:nvPr/>
        </p:nvGraphicFramePr>
        <p:xfrm>
          <a:off x="320045" y="893082"/>
          <a:ext cx="3000000" cy="3000000"/>
        </p:xfrm>
        <a:graphic>
          <a:graphicData uri="http://schemas.openxmlformats.org/drawingml/2006/table">
            <a:tbl>
              <a:tblPr>
                <a:noFill/>
                <a:tableStyleId>{1E738F9D-990B-4CE8-911F-98C990CA8010}</a:tableStyleId>
              </a:tblPr>
              <a:tblGrid>
                <a:gridCol w="1486925"/>
                <a:gridCol w="3531350"/>
                <a:gridCol w="3531350"/>
              </a:tblGrid>
              <a:tr h="411475">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Setting</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1A2E5A"/>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Geometry</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1A2E5A"/>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rgbClr val="FFFFFF"/>
                        </a:solidFill>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1A2E5A"/>
                    </a:solidFill>
                  </a:tcPr>
                </a:tc>
              </a:tr>
              <a:tr h="411475">
                <a:tc>
                  <a:txBody>
                    <a:bodyPr/>
                    <a:lstStyle/>
                    <a:p>
                      <a:pPr indent="0" lvl="0" marL="0" marR="0" rtl="0" algn="l">
                        <a:lnSpc>
                          <a:spcPct val="100000"/>
                        </a:lnSpc>
                        <a:spcBef>
                          <a:spcPts val="0"/>
                        </a:spcBef>
                        <a:spcAft>
                          <a:spcPts val="0"/>
                        </a:spcAft>
                        <a:buClr>
                          <a:srgbClr val="2E7D32"/>
                        </a:buClr>
                        <a:buSzPts val="1100"/>
                        <a:buFont typeface="Calibri"/>
                        <a:buNone/>
                      </a:pPr>
                      <a:r>
                        <a:rPr b="1" lang="en-US" sz="1100" u="none" cap="none" strike="noStrike">
                          <a:latin typeface="Calibri"/>
                          <a:ea typeface="Calibri"/>
                          <a:cs typeface="Calibri"/>
                          <a:sym typeface="Calibri"/>
                        </a:rPr>
                        <a:t>2 objectives</a:t>
                      </a:r>
                      <a:endParaRPr b="1"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A1A2E"/>
                        </a:buClr>
                        <a:buSzPts val="1300"/>
                        <a:buFont typeface="Calibri"/>
                        <a:buNone/>
                      </a:pPr>
                      <a:r>
                        <a:rPr lang="en-US" sz="1300" u="none" cap="none" strike="noStrike">
                          <a:solidFill>
                            <a:srgbClr val="1A1A2E"/>
                          </a:solidFill>
                          <a:latin typeface="Calibri"/>
                          <a:ea typeface="Calibri"/>
                          <a:cs typeface="Calibri"/>
                          <a:sym typeface="Calibri"/>
                        </a:rPr>
                        <a:t>Δ₂ is a line</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simple sweeps are often sufficient</a:t>
                      </a:r>
                      <a:endParaRPr sz="1100" u="none" cap="none" strike="noStrike">
                        <a:solidFill>
                          <a:srgbClr val="000000"/>
                        </a:solidFill>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C62828"/>
                        </a:buClr>
                        <a:buSzPts val="1100"/>
                        <a:buFont typeface="Calibri"/>
                        <a:buNone/>
                      </a:pPr>
                      <a:r>
                        <a:rPr b="1" lang="en-US" sz="1100" u="none" cap="none" strike="noStrike">
                          <a:latin typeface="Calibri"/>
                          <a:ea typeface="Calibri"/>
                          <a:cs typeface="Calibri"/>
                          <a:sym typeface="Calibri"/>
                        </a:rPr>
                        <a:t>3-4 objectives</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latin typeface="Calibri"/>
                          <a:ea typeface="Calibri"/>
                          <a:cs typeface="Calibri"/>
                          <a:sym typeface="Calibri"/>
                        </a:rPr>
                        <a:t>richer simplex geometry</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complementary and suppressive relations emerge</a:t>
                      </a:r>
                      <a:endParaRPr sz="1100" u="none" cap="none" strike="noStrike">
                        <a:solidFill>
                          <a:srgbClr val="000000"/>
                        </a:solidFill>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C62828"/>
                        </a:buClr>
                        <a:buSzPts val="1100"/>
                        <a:buFont typeface="Calibri"/>
                        <a:buNone/>
                      </a:pPr>
                      <a:r>
                        <a:rPr b="1" lang="en-US" sz="1100" u="none" cap="none" strike="noStrike">
                          <a:latin typeface="Calibri"/>
                          <a:ea typeface="Calibri"/>
                          <a:cs typeface="Calibri"/>
                          <a:sym typeface="Calibri"/>
                        </a:rPr>
                        <a:t>5+ objectives</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latin typeface="Calibri"/>
                          <a:ea typeface="Calibri"/>
                          <a:cs typeface="Calibri"/>
                          <a:sym typeface="Calibri"/>
                        </a:rPr>
                        <a:t>high-dimensional simplex</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exhaustive search becomes resolution-dependent and uninformed</a:t>
                      </a:r>
                      <a:endParaRPr sz="1100" u="none" cap="none" strike="noStrike">
                        <a:solidFill>
                          <a:srgbClr val="000000"/>
                        </a:solidFill>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6"/>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6"/>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Related Work I — Rewarded Soups</a:t>
            </a:r>
            <a:endParaRPr b="0" i="0" sz="2200" u="none" cap="none" strike="noStrike">
              <a:solidFill>
                <a:schemeClr val="dk1"/>
              </a:solidFill>
              <a:latin typeface="Calibri"/>
              <a:ea typeface="Calibri"/>
              <a:cs typeface="Calibri"/>
              <a:sym typeface="Calibri"/>
            </a:endParaRPr>
          </a:p>
        </p:txBody>
      </p:sp>
      <p:sp>
        <p:nvSpPr>
          <p:cNvPr id="58" name="Google Shape;58;p6"/>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3 / 11</a:t>
            </a:r>
            <a:endParaRPr b="0" i="0" sz="1000" u="none" cap="none" strike="noStrike">
              <a:solidFill>
                <a:schemeClr val="dk1"/>
              </a:solidFill>
              <a:latin typeface="Calibri"/>
              <a:ea typeface="Calibri"/>
              <a:cs typeface="Calibri"/>
              <a:sym typeface="Calibri"/>
            </a:endParaRPr>
          </a:p>
        </p:txBody>
      </p:sp>
      <p:sp>
        <p:nvSpPr>
          <p:cNvPr id="59" name="Google Shape;59;p6"/>
          <p:cNvSpPr/>
          <p:nvPr/>
        </p:nvSpPr>
        <p:spPr>
          <a:xfrm>
            <a:off x="274320" y="713232"/>
            <a:ext cx="5029200" cy="2926080"/>
          </a:xfrm>
          <a:prstGeom prst="rect">
            <a:avLst/>
          </a:prstGeom>
          <a:solidFill>
            <a:srgbClr val="E3F2FD"/>
          </a:solidFill>
          <a:ln cap="flat" cmpd="sng" w="12700">
            <a:solidFill>
              <a:srgbClr val="0288D1"/>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
          <p:cNvSpPr/>
          <p:nvPr/>
        </p:nvSpPr>
        <p:spPr>
          <a:xfrm>
            <a:off x="274320" y="713232"/>
            <a:ext cx="5029200" cy="274320"/>
          </a:xfrm>
          <a:prstGeom prst="rect">
            <a:avLst/>
          </a:prstGeom>
          <a:solidFill>
            <a:srgbClr val="0288D1"/>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6"/>
          <p:cNvSpPr/>
          <p:nvPr/>
        </p:nvSpPr>
        <p:spPr>
          <a:xfrm>
            <a:off x="274320" y="713232"/>
            <a:ext cx="50292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Method</a:t>
            </a:r>
            <a:endParaRPr b="0" i="0" sz="1100" u="none" cap="none" strike="noStrike">
              <a:solidFill>
                <a:schemeClr val="dk1"/>
              </a:solidFill>
              <a:latin typeface="Calibri"/>
              <a:ea typeface="Calibri"/>
              <a:cs typeface="Calibri"/>
              <a:sym typeface="Calibri"/>
            </a:endParaRPr>
          </a:p>
        </p:txBody>
      </p:sp>
      <p:sp>
        <p:nvSpPr>
          <p:cNvPr id="62" name="Google Shape;62;p6"/>
          <p:cNvSpPr/>
          <p:nvPr/>
        </p:nvSpPr>
        <p:spPr>
          <a:xfrm>
            <a:off x="411480" y="1051560"/>
            <a:ext cx="4754880" cy="2468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300"/>
              <a:buFont typeface="Calibri"/>
              <a:buNone/>
            </a:pPr>
            <a:r>
              <a:rPr b="0" i="0" lang="en-US" sz="1300" u="none" cap="none" strike="noStrike">
                <a:solidFill>
                  <a:srgbClr val="1A1A2E"/>
                </a:solidFill>
                <a:latin typeface="Calibri"/>
                <a:ea typeface="Calibri"/>
                <a:cs typeface="Calibri"/>
                <a:sym typeface="Calibri"/>
              </a:rPr>
              <a:t>1.  Train N specialists from shared base model θ₀:</a:t>
            </a:r>
            <a:br>
              <a:rPr b="0" i="0" lang="en-US" sz="1300" u="none" cap="none" strike="noStrike">
                <a:solidFill>
                  <a:srgbClr val="1A1A2E"/>
                </a:solidFill>
                <a:latin typeface="Calibri"/>
                <a:ea typeface="Calibri"/>
                <a:cs typeface="Calibri"/>
                <a:sym typeface="Calibri"/>
              </a:rPr>
            </a:br>
            <a:r>
              <a:rPr b="1" i="0" lang="en-US" sz="1300" u="none" cap="none" strike="noStrike">
                <a:solidFill>
                  <a:srgbClr val="1A2E5A"/>
                </a:solidFill>
                <a:latin typeface="Calibri"/>
                <a:ea typeface="Calibri"/>
                <a:cs typeface="Calibri"/>
                <a:sym typeface="Calibri"/>
              </a:rPr>
              <a:t>      θᵢ = LocalTrain(θ₀, rᵢ)</a:t>
            </a:r>
            <a:br>
              <a:rPr b="1" i="0" lang="en-US" sz="1300" u="none" cap="none" strike="noStrike">
                <a:solidFill>
                  <a:srgbClr val="1A2E5A"/>
                </a:solidFill>
                <a:latin typeface="Calibri"/>
                <a:ea typeface="Calibri"/>
                <a:cs typeface="Calibri"/>
                <a:sym typeface="Calibri"/>
              </a:rPr>
            </a:br>
            <a:br>
              <a:rPr b="1" i="0" lang="en-US" sz="1300" u="none" cap="none" strike="noStrike">
                <a:solidFill>
                  <a:srgbClr val="1A2E5A"/>
                </a:solidFill>
                <a:latin typeface="Calibri"/>
                <a:ea typeface="Calibri"/>
                <a:cs typeface="Calibri"/>
                <a:sym typeface="Calibri"/>
              </a:rPr>
            </a:br>
            <a:r>
              <a:rPr b="0" i="0" lang="en-US" sz="1300" u="none" cap="none" strike="noStrike">
                <a:solidFill>
                  <a:srgbClr val="1A1A2E"/>
                </a:solidFill>
                <a:latin typeface="Calibri"/>
                <a:ea typeface="Calibri"/>
                <a:cs typeface="Calibri"/>
                <a:sym typeface="Calibri"/>
              </a:rPr>
              <a:t>2.  Define task vectors:</a:t>
            </a:r>
            <a:br>
              <a:rPr b="0" i="0" lang="en-US" sz="1300" u="none" cap="none" strike="noStrike">
                <a:solidFill>
                  <a:srgbClr val="1A1A2E"/>
                </a:solidFill>
                <a:latin typeface="Calibri"/>
                <a:ea typeface="Calibri"/>
                <a:cs typeface="Calibri"/>
                <a:sym typeface="Calibri"/>
              </a:rPr>
            </a:br>
            <a:r>
              <a:rPr b="1" i="0" lang="en-US" sz="1300" u="none" cap="none" strike="noStrike">
                <a:solidFill>
                  <a:srgbClr val="0288D1"/>
                </a:solidFill>
                <a:latin typeface="Calibri"/>
                <a:ea typeface="Calibri"/>
                <a:cs typeface="Calibri"/>
                <a:sym typeface="Calibri"/>
              </a:rPr>
              <a:t>      δᵢ = θᵢ − θ₀ </a:t>
            </a:r>
            <a:br>
              <a:rPr b="1" i="0" lang="en-US" sz="1300" u="none" cap="none" strike="noStrike">
                <a:solidFill>
                  <a:srgbClr val="0288D1"/>
                </a:solidFill>
                <a:latin typeface="Calibri"/>
                <a:ea typeface="Calibri"/>
                <a:cs typeface="Calibri"/>
                <a:sym typeface="Calibri"/>
              </a:rPr>
            </a:br>
            <a:br>
              <a:rPr b="1" i="0" lang="en-US" sz="1300" u="none" cap="none" strike="noStrike">
                <a:solidFill>
                  <a:srgbClr val="0288D1"/>
                </a:solidFill>
                <a:latin typeface="Calibri"/>
                <a:ea typeface="Calibri"/>
                <a:cs typeface="Calibri"/>
                <a:sym typeface="Calibri"/>
              </a:rPr>
            </a:br>
            <a:r>
              <a:rPr b="0" i="0" lang="en-US" sz="1300" u="none" cap="none" strike="noStrike">
                <a:solidFill>
                  <a:srgbClr val="1A1A2E"/>
                </a:solidFill>
                <a:latin typeface="Calibri"/>
                <a:ea typeface="Calibri"/>
                <a:cs typeface="Calibri"/>
                <a:sym typeface="Calibri"/>
              </a:rPr>
              <a:t>3.  Define the interpolation family:</a:t>
            </a:r>
            <a:br>
              <a:rPr b="0" i="0" lang="en-US" sz="1300" u="none" cap="none" strike="noStrike">
                <a:solidFill>
                  <a:srgbClr val="1A1A2E"/>
                </a:solidFill>
                <a:latin typeface="Calibri"/>
                <a:ea typeface="Calibri"/>
                <a:cs typeface="Calibri"/>
                <a:sym typeface="Calibri"/>
              </a:rPr>
            </a:br>
            <a:r>
              <a:rPr b="1" i="0" lang="en-US" sz="1300" u="none" cap="none" strike="noStrike">
                <a:solidFill>
                  <a:srgbClr val="1A2E5A"/>
                </a:solidFill>
                <a:latin typeface="Calibri"/>
                <a:ea typeface="Calibri"/>
                <a:cs typeface="Calibri"/>
                <a:sym typeface="Calibri"/>
              </a:rPr>
              <a:t>      θ(λ) = θ₀ + Σᵢ λᵢ δᵢ,   λ ∈ Δₙ</a:t>
            </a:r>
            <a:br>
              <a:rPr b="1" i="0" lang="en-US" sz="1300" u="none" cap="none" strike="noStrike">
                <a:solidFill>
                  <a:srgbClr val="1A2E5A"/>
                </a:solidFill>
                <a:latin typeface="Calibri"/>
                <a:ea typeface="Calibri"/>
                <a:cs typeface="Calibri"/>
                <a:sym typeface="Calibri"/>
              </a:rPr>
            </a:br>
            <a:br>
              <a:rPr b="1" i="0" lang="en-US" sz="1300" u="none" cap="none" strike="noStrike">
                <a:solidFill>
                  <a:srgbClr val="1A2E5A"/>
                </a:solidFill>
                <a:latin typeface="Calibri"/>
                <a:ea typeface="Calibri"/>
                <a:cs typeface="Calibri"/>
                <a:sym typeface="Calibri"/>
              </a:rPr>
            </a:br>
            <a:r>
              <a:rPr b="0" i="0" lang="en-US" sz="1300" u="none" cap="none" strike="noStrike">
                <a:solidFill>
                  <a:srgbClr val="1A1A2E"/>
                </a:solidFill>
                <a:latin typeface="Calibri"/>
                <a:ea typeface="Calibri"/>
                <a:cs typeface="Calibri"/>
                <a:sym typeface="Calibri"/>
              </a:rPr>
              <a:t>4.  Select λ by evaluating sampled or discretized coefficient vectors on validation data </a:t>
            </a:r>
            <a:br>
              <a:rPr b="0" i="0" lang="en-US" sz="1300" u="none" cap="none" strike="noStrike">
                <a:solidFill>
                  <a:srgbClr val="1A1A2E"/>
                </a:solidFill>
                <a:latin typeface="Calibri"/>
                <a:ea typeface="Calibri"/>
                <a:cs typeface="Calibri"/>
                <a:sym typeface="Calibri"/>
              </a:rPr>
            </a:br>
            <a:endParaRPr b="0" i="0" sz="1300" u="none" cap="none" strike="noStrike">
              <a:solidFill>
                <a:schemeClr val="dk1"/>
              </a:solidFill>
              <a:latin typeface="Calibri"/>
              <a:ea typeface="Calibri"/>
              <a:cs typeface="Calibri"/>
              <a:sym typeface="Calibri"/>
            </a:endParaRPr>
          </a:p>
        </p:txBody>
      </p:sp>
      <p:sp>
        <p:nvSpPr>
          <p:cNvPr id="63" name="Google Shape;63;p6"/>
          <p:cNvSpPr/>
          <p:nvPr/>
        </p:nvSpPr>
        <p:spPr>
          <a:xfrm>
            <a:off x="5532120" y="713232"/>
            <a:ext cx="3337560" cy="1280160"/>
          </a:xfrm>
          <a:prstGeom prst="rect">
            <a:avLst/>
          </a:prstGeom>
          <a:solidFill>
            <a:srgbClr val="E8F5E9"/>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6"/>
          <p:cNvSpPr/>
          <p:nvPr/>
        </p:nvSpPr>
        <p:spPr>
          <a:xfrm>
            <a:off x="5532120" y="713232"/>
            <a:ext cx="3337560" cy="27432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6"/>
          <p:cNvSpPr/>
          <p:nvPr/>
        </p:nvSpPr>
        <p:spPr>
          <a:xfrm>
            <a:off x="5532120" y="713232"/>
            <a:ext cx="33375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Strengths</a:t>
            </a:r>
            <a:endParaRPr b="0" i="0" sz="1100" u="none" cap="none" strike="noStrike">
              <a:solidFill>
                <a:schemeClr val="dk1"/>
              </a:solidFill>
              <a:latin typeface="Calibri"/>
              <a:ea typeface="Calibri"/>
              <a:cs typeface="Calibri"/>
              <a:sym typeface="Calibri"/>
            </a:endParaRPr>
          </a:p>
        </p:txBody>
      </p:sp>
      <p:sp>
        <p:nvSpPr>
          <p:cNvPr id="66" name="Google Shape;66;p6"/>
          <p:cNvSpPr/>
          <p:nvPr/>
        </p:nvSpPr>
        <p:spPr>
          <a:xfrm>
            <a:off x="5669280" y="1051560"/>
            <a:ext cx="3063300" cy="868800"/>
          </a:xfrm>
          <a:prstGeom prst="rect">
            <a:avLst/>
          </a:prstGeom>
          <a:noFill/>
          <a:ln>
            <a:noFill/>
          </a:ln>
        </p:spPr>
        <p:txBody>
          <a:bodyPr anchorCtr="0" anchor="ctr" bIns="45700" lIns="91425" spcFirstLastPara="1" rIns="91425" wrap="square" tIns="45700">
            <a:noAutofit/>
          </a:bodyPr>
          <a:lstStyle/>
          <a:p>
            <a:pPr indent="-298450" lvl="0" marL="457200" marR="0" rtl="0" algn="l">
              <a:lnSpc>
                <a:spcPct val="100000"/>
              </a:lnSpc>
              <a:spcBef>
                <a:spcPts val="0"/>
              </a:spcBef>
              <a:spcAft>
                <a:spcPts val="0"/>
              </a:spcAft>
              <a:buClr>
                <a:srgbClr val="1A1A2E"/>
              </a:buClr>
              <a:buSzPts val="1100"/>
              <a:buFont typeface="Calibri"/>
              <a:buChar char="●"/>
            </a:pPr>
            <a:r>
              <a:rPr b="0" i="0" lang="en-US" sz="1100" u="none" cap="none" strike="noStrike">
                <a:solidFill>
                  <a:srgbClr val="1A1A2E"/>
                </a:solidFill>
                <a:latin typeface="Calibri"/>
                <a:ea typeface="Calibri"/>
                <a:cs typeface="Calibri"/>
                <a:sym typeface="Calibri"/>
              </a:rPr>
              <a:t>simple and scalable</a:t>
            </a:r>
            <a:endParaRPr b="0" i="0" sz="1100" u="none" cap="none" strike="noStrike">
              <a:solidFill>
                <a:srgbClr val="1A1A2E"/>
              </a:solidFill>
              <a:latin typeface="Calibri"/>
              <a:ea typeface="Calibri"/>
              <a:cs typeface="Calibri"/>
              <a:sym typeface="Calibri"/>
            </a:endParaRPr>
          </a:p>
          <a:p>
            <a:pPr indent="-298450" lvl="0" marL="457200" marR="0" rtl="0" algn="l">
              <a:lnSpc>
                <a:spcPct val="100000"/>
              </a:lnSpc>
              <a:spcBef>
                <a:spcPts val="0"/>
              </a:spcBef>
              <a:spcAft>
                <a:spcPts val="0"/>
              </a:spcAft>
              <a:buClr>
                <a:srgbClr val="1A1A2E"/>
              </a:buClr>
              <a:buSzPts val="1100"/>
              <a:buFont typeface="Calibri"/>
              <a:buChar char="●"/>
            </a:pPr>
            <a:r>
              <a:rPr b="0" i="0" lang="en-US" sz="1100" u="none" cap="none" strike="noStrike">
                <a:solidFill>
                  <a:srgbClr val="1A1A2E"/>
                </a:solidFill>
                <a:latin typeface="Calibri"/>
                <a:ea typeface="Calibri"/>
                <a:cs typeface="Calibri"/>
                <a:sym typeface="Calibri"/>
              </a:rPr>
              <a:t>no additional training after specialists are obtained</a:t>
            </a:r>
            <a:endParaRPr b="0" i="0" sz="1100" u="none" cap="none" strike="noStrike">
              <a:solidFill>
                <a:srgbClr val="1A1A2E"/>
              </a:solidFill>
              <a:latin typeface="Calibri"/>
              <a:ea typeface="Calibri"/>
              <a:cs typeface="Calibri"/>
              <a:sym typeface="Calibri"/>
            </a:endParaRPr>
          </a:p>
          <a:p>
            <a:pPr indent="-298450" lvl="0" marL="457200" marR="0" rtl="0" algn="l">
              <a:lnSpc>
                <a:spcPct val="100000"/>
              </a:lnSpc>
              <a:spcBef>
                <a:spcPts val="0"/>
              </a:spcBef>
              <a:spcAft>
                <a:spcPts val="0"/>
              </a:spcAft>
              <a:buClr>
                <a:srgbClr val="1A1A2E"/>
              </a:buClr>
              <a:buSzPts val="1100"/>
              <a:buFont typeface="Calibri"/>
              <a:buChar char="●"/>
            </a:pPr>
            <a:r>
              <a:rPr b="0" i="0" lang="en-US" sz="1100" u="none" cap="none" strike="noStrike">
                <a:solidFill>
                  <a:srgbClr val="1A1A2E"/>
                </a:solidFill>
                <a:latin typeface="Calibri"/>
                <a:ea typeface="Calibri"/>
                <a:cs typeface="Calibri"/>
                <a:sym typeface="Calibri"/>
              </a:rPr>
              <a:t>supports a-posteriori preference control</a:t>
            </a:r>
            <a:endParaRPr b="0" i="0" sz="1100" u="none" cap="none" strike="noStrike">
              <a:solidFill>
                <a:srgbClr val="1A1A2E"/>
              </a:solidFill>
              <a:latin typeface="Calibri"/>
              <a:ea typeface="Calibri"/>
              <a:cs typeface="Calibri"/>
              <a:sym typeface="Calibri"/>
            </a:endParaRPr>
          </a:p>
          <a:p>
            <a:pPr indent="-298450" lvl="0" marL="457200" marR="0" rtl="0" algn="l">
              <a:lnSpc>
                <a:spcPct val="100000"/>
              </a:lnSpc>
              <a:spcBef>
                <a:spcPts val="0"/>
              </a:spcBef>
              <a:spcAft>
                <a:spcPts val="0"/>
              </a:spcAft>
              <a:buClr>
                <a:srgbClr val="1A1A2E"/>
              </a:buClr>
              <a:buSzPts val="1100"/>
              <a:buFont typeface="Calibri"/>
              <a:buChar char="●"/>
            </a:pPr>
            <a:r>
              <a:rPr b="0" i="0" lang="en-US" sz="1100" u="none" cap="none" strike="noStrike">
                <a:solidFill>
                  <a:srgbClr val="1A1A2E"/>
                </a:solidFill>
                <a:latin typeface="Calibri"/>
                <a:ea typeface="Calibri"/>
                <a:cs typeface="Calibri"/>
                <a:sym typeface="Calibri"/>
              </a:rPr>
              <a:t>strong model-aggregation baseline</a:t>
            </a:r>
            <a:endParaRPr b="0" i="0" sz="1100" u="none" cap="none" strike="noStrike">
              <a:solidFill>
                <a:srgbClr val="1A1A2E"/>
              </a:solidFill>
              <a:latin typeface="Calibri"/>
              <a:ea typeface="Calibri"/>
              <a:cs typeface="Calibri"/>
              <a:sym typeface="Calibri"/>
            </a:endParaRPr>
          </a:p>
        </p:txBody>
      </p:sp>
      <p:sp>
        <p:nvSpPr>
          <p:cNvPr id="67" name="Google Shape;67;p6"/>
          <p:cNvSpPr/>
          <p:nvPr/>
        </p:nvSpPr>
        <p:spPr>
          <a:xfrm>
            <a:off x="5532120" y="2176272"/>
            <a:ext cx="3337560" cy="1463040"/>
          </a:xfrm>
          <a:prstGeom prst="rect">
            <a:avLst/>
          </a:prstGeom>
          <a:solidFill>
            <a:srgbClr val="FFEBEE"/>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6"/>
          <p:cNvSpPr/>
          <p:nvPr/>
        </p:nvSpPr>
        <p:spPr>
          <a:xfrm>
            <a:off x="5532120" y="2176272"/>
            <a:ext cx="3337560" cy="274320"/>
          </a:xfrm>
          <a:prstGeom prst="rect">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6"/>
          <p:cNvSpPr/>
          <p:nvPr/>
        </p:nvSpPr>
        <p:spPr>
          <a:xfrm>
            <a:off x="5532120" y="2176272"/>
            <a:ext cx="33375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Limitations</a:t>
            </a:r>
            <a:endParaRPr b="0" i="0" sz="1100" u="none" cap="none" strike="noStrike">
              <a:solidFill>
                <a:schemeClr val="dk1"/>
              </a:solidFill>
              <a:latin typeface="Calibri"/>
              <a:ea typeface="Calibri"/>
              <a:cs typeface="Calibri"/>
              <a:sym typeface="Calibri"/>
            </a:endParaRPr>
          </a:p>
        </p:txBody>
      </p:sp>
      <p:sp>
        <p:nvSpPr>
          <p:cNvPr id="70" name="Google Shape;70;p6"/>
          <p:cNvSpPr/>
          <p:nvPr/>
        </p:nvSpPr>
        <p:spPr>
          <a:xfrm>
            <a:off x="5669280" y="2514600"/>
            <a:ext cx="3063300" cy="1051500"/>
          </a:xfrm>
          <a:prstGeom prst="rect">
            <a:avLst/>
          </a:prstGeom>
          <a:noFill/>
          <a:ln>
            <a:noFill/>
          </a:ln>
        </p:spPr>
        <p:txBody>
          <a:bodyPr anchorCtr="0" anchor="ctr" bIns="45700" lIns="91425" spcFirstLastPara="1" rIns="91425" wrap="square" tIns="45700">
            <a:noAutofit/>
          </a:bodyPr>
          <a:lstStyle/>
          <a:p>
            <a:pPr indent="-298450" lvl="0" marL="457200" marR="0" rtl="0" algn="l">
              <a:lnSpc>
                <a:spcPct val="100000"/>
              </a:lnSpc>
              <a:spcBef>
                <a:spcPts val="0"/>
              </a:spcBef>
              <a:spcAft>
                <a:spcPts val="0"/>
              </a:spcAft>
              <a:buClr>
                <a:srgbClr val="1A1A2E"/>
              </a:buClr>
              <a:buSzPts val="1100"/>
              <a:buFont typeface="Calibri"/>
              <a:buChar char="●"/>
            </a:pPr>
            <a:r>
              <a:rPr b="0" i="0" lang="en-US" sz="1100" u="none" cap="none" strike="noStrike">
                <a:solidFill>
                  <a:srgbClr val="1A1A2E"/>
                </a:solidFill>
                <a:latin typeface="Calibri"/>
                <a:ea typeface="Calibri"/>
                <a:cs typeface="Calibri"/>
                <a:sym typeface="Calibri"/>
              </a:rPr>
              <a:t>direct use of preference weights may ignore objective interactions</a:t>
            </a:r>
            <a:endParaRPr b="0" i="0" sz="1100" u="none" cap="none" strike="noStrike">
              <a:solidFill>
                <a:srgbClr val="1A1A2E"/>
              </a:solidFill>
              <a:latin typeface="Calibri"/>
              <a:ea typeface="Calibri"/>
              <a:cs typeface="Calibri"/>
              <a:sym typeface="Calibri"/>
            </a:endParaRPr>
          </a:p>
          <a:p>
            <a:pPr indent="-298450" lvl="0" marL="457200" marR="0" rtl="0" algn="l">
              <a:lnSpc>
                <a:spcPct val="100000"/>
              </a:lnSpc>
              <a:spcBef>
                <a:spcPts val="0"/>
              </a:spcBef>
              <a:spcAft>
                <a:spcPts val="0"/>
              </a:spcAft>
              <a:buClr>
                <a:srgbClr val="1A1A2E"/>
              </a:buClr>
              <a:buSzPts val="1100"/>
              <a:buFont typeface="Calibri"/>
              <a:buChar char="●"/>
            </a:pPr>
            <a:r>
              <a:rPr b="0" i="0" lang="en-US" sz="1100" u="none" cap="none" strike="noStrike">
                <a:solidFill>
                  <a:srgbClr val="1A1A2E"/>
                </a:solidFill>
                <a:latin typeface="Calibri"/>
                <a:ea typeface="Calibri"/>
                <a:cs typeface="Calibri"/>
                <a:sym typeface="Calibri"/>
              </a:rPr>
              <a:t>coefficient search becomes harder in many-objective settings</a:t>
            </a:r>
            <a:endParaRPr b="0" i="0" sz="1100" u="none" cap="none" strike="noStrike">
              <a:solidFill>
                <a:srgbClr val="1A1A2E"/>
              </a:solidFill>
              <a:latin typeface="Calibri"/>
              <a:ea typeface="Calibri"/>
              <a:cs typeface="Calibri"/>
              <a:sym typeface="Calibri"/>
            </a:endParaRPr>
          </a:p>
        </p:txBody>
      </p:sp>
      <p:sp>
        <p:nvSpPr>
          <p:cNvPr id="71" name="Google Shape;71;p6"/>
          <p:cNvSpPr/>
          <p:nvPr/>
        </p:nvSpPr>
        <p:spPr>
          <a:xfrm>
            <a:off x="274320" y="3767328"/>
            <a:ext cx="8595360" cy="1234440"/>
          </a:xfrm>
          <a:prstGeom prst="rect">
            <a:avLst/>
          </a:prstGeom>
          <a:solidFill>
            <a:srgbClr val="E8EAF6"/>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6"/>
          <p:cNvSpPr/>
          <p:nvPr/>
        </p:nvSpPr>
        <p:spPr>
          <a:xfrm>
            <a:off x="457200" y="3822192"/>
            <a:ext cx="2743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100"/>
              <a:buFont typeface="Calibri"/>
              <a:buNone/>
            </a:pPr>
            <a:r>
              <a:rPr b="1" i="0" lang="en-US" sz="1100" u="none" cap="none" strike="noStrike">
                <a:solidFill>
                  <a:srgbClr val="1A2E5A"/>
                </a:solidFill>
                <a:latin typeface="Calibri"/>
                <a:ea typeface="Calibri"/>
                <a:cs typeface="Calibri"/>
                <a:sym typeface="Calibri"/>
              </a:rPr>
              <a:t>Central observation:</a:t>
            </a:r>
            <a:endParaRPr b="0" i="0" sz="1100" u="none" cap="none" strike="noStrike">
              <a:solidFill>
                <a:schemeClr val="dk1"/>
              </a:solidFill>
              <a:latin typeface="Calibri"/>
              <a:ea typeface="Calibri"/>
              <a:cs typeface="Calibri"/>
              <a:sym typeface="Calibri"/>
            </a:endParaRPr>
          </a:p>
        </p:txBody>
      </p:sp>
      <p:sp>
        <p:nvSpPr>
          <p:cNvPr id="73" name="Google Shape;73;p6"/>
          <p:cNvSpPr/>
          <p:nvPr/>
        </p:nvSpPr>
        <p:spPr>
          <a:xfrm>
            <a:off x="457200" y="4096512"/>
            <a:ext cx="8229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300"/>
              <a:buFont typeface="Calibri"/>
              <a:buNone/>
            </a:pPr>
            <a:r>
              <a:rPr b="0" i="0" lang="en-US" sz="1300" u="none" cap="none" strike="noStrike">
                <a:solidFill>
                  <a:srgbClr val="1A1A2E"/>
                </a:solidFill>
                <a:latin typeface="Calibri"/>
                <a:ea typeface="Calibri"/>
                <a:cs typeface="Calibri"/>
                <a:sym typeface="Calibri"/>
              </a:rPr>
              <a:t>Task vectors δᵢ encode objective-specific parameter direction: </a:t>
            </a:r>
            <a:r>
              <a:rPr b="1" i="0" lang="en-US" sz="1300" u="none" cap="none" strike="noStrike">
                <a:solidFill>
                  <a:srgbClr val="0288D1"/>
                </a:solidFill>
                <a:latin typeface="Calibri"/>
                <a:ea typeface="Calibri"/>
                <a:cs typeface="Calibri"/>
                <a:sym typeface="Calibri"/>
              </a:rPr>
              <a:t> δᵢ = θᵢ − θ₀</a:t>
            </a:r>
            <a:r>
              <a:rPr b="0" i="0" lang="en-US" sz="1300" u="none" cap="none" strike="noStrike">
                <a:solidFill>
                  <a:srgbClr val="000000"/>
                </a:solidFill>
                <a:latin typeface="Calibri"/>
                <a:ea typeface="Calibri"/>
                <a:cs typeface="Calibri"/>
                <a:sym typeface="Calibri"/>
              </a:rPr>
              <a:t>.</a:t>
            </a:r>
            <a:r>
              <a:rPr b="0" i="0" lang="en-US" sz="1300" u="none" cap="none" strike="noStrike">
                <a:solidFill>
                  <a:srgbClr val="1A1A2E"/>
                </a:solidFill>
                <a:latin typeface="Calibri"/>
                <a:ea typeface="Calibri"/>
                <a:cs typeface="Calibri"/>
                <a:sym typeface="Calibri"/>
              </a:rPr>
              <a:t> Their geometry serves as a proxy for inter-objective structure (must be empirically validated).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 name="Shape 78"/>
        <p:cNvGrpSpPr/>
        <p:nvPr/>
      </p:nvGrpSpPr>
      <p:grpSpPr>
        <a:xfrm>
          <a:off x="0" y="0"/>
          <a:ext cx="0" cy="0"/>
          <a:chOff x="0" y="0"/>
          <a:chExt cx="0" cy="0"/>
        </a:xfrm>
      </p:grpSpPr>
      <p:sp>
        <p:nvSpPr>
          <p:cNvPr id="79" name="Google Shape;79;p7"/>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7"/>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Related Work II — Gradient Conflict Mechanisms</a:t>
            </a:r>
            <a:endParaRPr b="0" i="0" sz="2200" u="none" cap="none" strike="noStrike">
              <a:solidFill>
                <a:schemeClr val="dk1"/>
              </a:solidFill>
              <a:latin typeface="Calibri"/>
              <a:ea typeface="Calibri"/>
              <a:cs typeface="Calibri"/>
              <a:sym typeface="Calibri"/>
            </a:endParaRPr>
          </a:p>
        </p:txBody>
      </p:sp>
      <p:sp>
        <p:nvSpPr>
          <p:cNvPr id="81" name="Google Shape;81;p7"/>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4 / 11</a:t>
            </a:r>
            <a:endParaRPr b="0" i="0" sz="1000" u="none" cap="none" strike="noStrike">
              <a:solidFill>
                <a:schemeClr val="dk1"/>
              </a:solidFill>
              <a:latin typeface="Calibri"/>
              <a:ea typeface="Calibri"/>
              <a:cs typeface="Calibri"/>
              <a:sym typeface="Calibri"/>
            </a:endParaRPr>
          </a:p>
        </p:txBody>
      </p:sp>
      <p:sp>
        <p:nvSpPr>
          <p:cNvPr id="82" name="Google Shape;82;p7"/>
          <p:cNvSpPr/>
          <p:nvPr/>
        </p:nvSpPr>
        <p:spPr>
          <a:xfrm>
            <a:off x="164592" y="685800"/>
            <a:ext cx="2834640" cy="4297680"/>
          </a:xfrm>
          <a:prstGeom prst="rect">
            <a:avLst/>
          </a:prstGeom>
          <a:solidFill>
            <a:srgbClr val="FFFFFF"/>
          </a:solidFill>
          <a:ln cap="flat" cmpd="sng" w="12700">
            <a:solidFill>
              <a:srgbClr val="0288D1"/>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7"/>
          <p:cNvSpPr/>
          <p:nvPr/>
        </p:nvSpPr>
        <p:spPr>
          <a:xfrm>
            <a:off x="164592" y="685800"/>
            <a:ext cx="2834640" cy="347472"/>
          </a:xfrm>
          <a:prstGeom prst="rect">
            <a:avLst/>
          </a:prstGeom>
          <a:solidFill>
            <a:srgbClr val="0288D1"/>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7"/>
          <p:cNvSpPr/>
          <p:nvPr/>
        </p:nvSpPr>
        <p:spPr>
          <a:xfrm>
            <a:off x="164592" y="685800"/>
            <a:ext cx="28346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MGDA</a:t>
            </a:r>
            <a:endParaRPr b="0" i="0" sz="2200" u="none" cap="none" strike="noStrike">
              <a:solidFill>
                <a:schemeClr val="dk1"/>
              </a:solidFill>
              <a:latin typeface="Calibri"/>
              <a:ea typeface="Calibri"/>
              <a:cs typeface="Calibri"/>
              <a:sym typeface="Calibri"/>
            </a:endParaRPr>
          </a:p>
        </p:txBody>
      </p:sp>
      <p:sp>
        <p:nvSpPr>
          <p:cNvPr id="85" name="Google Shape;85;p7"/>
          <p:cNvSpPr/>
          <p:nvPr/>
        </p:nvSpPr>
        <p:spPr>
          <a:xfrm>
            <a:off x="256032" y="1078992"/>
            <a:ext cx="26517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1" lang="en-US" sz="1100" u="none" cap="none" strike="noStrike">
                <a:solidFill>
                  <a:srgbClr val="1A1A2E"/>
                </a:solidFill>
                <a:latin typeface="Calibri"/>
                <a:ea typeface="Calibri"/>
                <a:cs typeface="Calibri"/>
                <a:sym typeface="Calibri"/>
              </a:rPr>
              <a:t>Finds a common Pareto-stationary descent direction by solving a min-norm problem over the convex hull of gradients.</a:t>
            </a:r>
            <a:endParaRPr b="0" i="0" sz="1100" u="none" cap="none" strike="noStrike">
              <a:solidFill>
                <a:schemeClr val="dk1"/>
              </a:solidFill>
              <a:latin typeface="Calibri"/>
              <a:ea typeface="Calibri"/>
              <a:cs typeface="Calibri"/>
              <a:sym typeface="Calibri"/>
            </a:endParaRPr>
          </a:p>
        </p:txBody>
      </p:sp>
      <p:sp>
        <p:nvSpPr>
          <p:cNvPr id="86" name="Google Shape;86;p7"/>
          <p:cNvSpPr/>
          <p:nvPr/>
        </p:nvSpPr>
        <p:spPr>
          <a:xfrm>
            <a:off x="237744" y="1920240"/>
            <a:ext cx="2688336" cy="960120"/>
          </a:xfrm>
          <a:prstGeom prst="rect">
            <a:avLst/>
          </a:prstGeom>
          <a:solidFill>
            <a:srgbClr val="ECEFF1"/>
          </a:solidFill>
          <a:ln cap="flat" cmpd="sng" w="12700">
            <a:solidFill>
              <a:srgbClr val="B0BE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7"/>
          <p:cNvSpPr/>
          <p:nvPr/>
        </p:nvSpPr>
        <p:spPr>
          <a:xfrm>
            <a:off x="274320" y="1938528"/>
            <a:ext cx="26060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000"/>
              <a:buFont typeface="Consolas"/>
              <a:buNone/>
            </a:pPr>
            <a:r>
              <a:rPr b="0" i="0" lang="en-US" sz="1000" u="none" cap="none" strike="noStrike">
                <a:solidFill>
                  <a:srgbClr val="1A2E5A"/>
                </a:solidFill>
                <a:latin typeface="Consolas"/>
                <a:ea typeface="Consolas"/>
                <a:cs typeface="Consolas"/>
                <a:sym typeface="Consolas"/>
              </a:rPr>
              <a:t>α* = argmin_{α∈Δ} ‖Σᵢ αᵢ ∇</a:t>
            </a:r>
            <a:r>
              <a:rPr b="0" baseline="-25000" i="0" lang="en-US" sz="1000" u="none" cap="none" strike="noStrike">
                <a:solidFill>
                  <a:srgbClr val="1A2E5A"/>
                </a:solidFill>
                <a:latin typeface="Consolas"/>
                <a:ea typeface="Consolas"/>
                <a:cs typeface="Consolas"/>
                <a:sym typeface="Consolas"/>
              </a:rPr>
              <a:t>θ</a:t>
            </a:r>
            <a:r>
              <a:rPr b="0" i="0" lang="en-US" sz="1000" u="none" cap="none" strike="noStrike">
                <a:solidFill>
                  <a:srgbClr val="1A2E5A"/>
                </a:solidFill>
                <a:latin typeface="Consolas"/>
                <a:ea typeface="Consolas"/>
                <a:cs typeface="Consolas"/>
                <a:sym typeface="Consolas"/>
              </a:rPr>
              <a:t> fᵢ‖²</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2E5A"/>
              </a:buClr>
              <a:buSzPts val="1000"/>
              <a:buFont typeface="Consolas"/>
              <a:buNone/>
            </a:pPr>
            <a:r>
              <a:t/>
            </a:r>
            <a:endParaRPr b="0" i="0" sz="1000" u="none" cap="none" strike="noStrike">
              <a:solidFill>
                <a:schemeClr val="dk1"/>
              </a:solidFill>
              <a:latin typeface="Calibri"/>
              <a:ea typeface="Calibri"/>
              <a:cs typeface="Calibri"/>
              <a:sym typeface="Calibri"/>
            </a:endParaRPr>
          </a:p>
        </p:txBody>
      </p:sp>
      <p:sp>
        <p:nvSpPr>
          <p:cNvPr id="88" name="Google Shape;88;p7"/>
          <p:cNvSpPr/>
          <p:nvPr/>
        </p:nvSpPr>
        <p:spPr>
          <a:xfrm>
            <a:off x="256032" y="2944368"/>
            <a:ext cx="2651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US" sz="1100" u="none" cap="none" strike="noStrike">
                <a:solidFill>
                  <a:srgbClr val="000000"/>
                </a:solidFill>
                <a:latin typeface="Calibri"/>
                <a:ea typeface="Calibri"/>
                <a:cs typeface="Calibri"/>
                <a:sym typeface="Calibri"/>
              </a:rPr>
              <a:t>Property:</a:t>
            </a:r>
            <a:endParaRPr b="0" i="0" sz="1100" u="none" cap="none" strike="noStrike">
              <a:solidFill>
                <a:srgbClr val="000000"/>
              </a:solidFill>
              <a:latin typeface="Calibri"/>
              <a:ea typeface="Calibri"/>
              <a:cs typeface="Calibri"/>
              <a:sym typeface="Calibri"/>
            </a:endParaRPr>
          </a:p>
        </p:txBody>
      </p:sp>
      <p:sp>
        <p:nvSpPr>
          <p:cNvPr id="89" name="Google Shape;89;p7"/>
          <p:cNvSpPr/>
          <p:nvPr/>
        </p:nvSpPr>
        <p:spPr>
          <a:xfrm>
            <a:off x="256032" y="3145536"/>
            <a:ext cx="265176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Inspires conflict aware coefficient balancing</a:t>
            </a:r>
            <a:endParaRPr b="0" i="0" sz="1100" u="none" cap="none" strike="noStrike">
              <a:solidFill>
                <a:schemeClr val="dk1"/>
              </a:solidFill>
              <a:latin typeface="Calibri"/>
              <a:ea typeface="Calibri"/>
              <a:cs typeface="Calibri"/>
              <a:sym typeface="Calibri"/>
            </a:endParaRPr>
          </a:p>
        </p:txBody>
      </p:sp>
      <p:sp>
        <p:nvSpPr>
          <p:cNvPr id="90" name="Google Shape;90;p7"/>
          <p:cNvSpPr/>
          <p:nvPr/>
        </p:nvSpPr>
        <p:spPr>
          <a:xfrm>
            <a:off x="256032" y="3813048"/>
            <a:ext cx="2651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62828"/>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91" name="Google Shape;91;p7"/>
          <p:cNvSpPr/>
          <p:nvPr/>
        </p:nvSpPr>
        <p:spPr>
          <a:xfrm>
            <a:off x="256032" y="4014216"/>
            <a:ext cx="265176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92" name="Google Shape;92;p7"/>
          <p:cNvSpPr/>
          <p:nvPr/>
        </p:nvSpPr>
        <p:spPr>
          <a:xfrm>
            <a:off x="3154680" y="685800"/>
            <a:ext cx="2834640" cy="4297680"/>
          </a:xfrm>
          <a:prstGeom prst="rect">
            <a:avLst/>
          </a:prstGeom>
          <a:solidFill>
            <a:srgbClr val="FFFFFF"/>
          </a:solidFill>
          <a:ln cap="flat" cmpd="sng" w="12700">
            <a:solidFill>
              <a:srgbClr val="1565C0"/>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7"/>
          <p:cNvSpPr/>
          <p:nvPr/>
        </p:nvSpPr>
        <p:spPr>
          <a:xfrm>
            <a:off x="3154680" y="685800"/>
            <a:ext cx="2834640" cy="347472"/>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7"/>
          <p:cNvSpPr/>
          <p:nvPr/>
        </p:nvSpPr>
        <p:spPr>
          <a:xfrm>
            <a:off x="3154680" y="685800"/>
            <a:ext cx="28346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PCGrad</a:t>
            </a:r>
            <a:endParaRPr b="0" i="0" sz="2200" u="none" cap="none" strike="noStrike">
              <a:solidFill>
                <a:schemeClr val="dk1"/>
              </a:solidFill>
              <a:latin typeface="Calibri"/>
              <a:ea typeface="Calibri"/>
              <a:cs typeface="Calibri"/>
              <a:sym typeface="Calibri"/>
            </a:endParaRPr>
          </a:p>
        </p:txBody>
      </p:sp>
      <p:sp>
        <p:nvSpPr>
          <p:cNvPr id="95" name="Google Shape;95;p7"/>
          <p:cNvSpPr/>
          <p:nvPr/>
        </p:nvSpPr>
        <p:spPr>
          <a:xfrm>
            <a:off x="3246120" y="1078992"/>
            <a:ext cx="26517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1" lang="en-US" sz="1100" u="none" cap="none" strike="noStrike">
                <a:solidFill>
                  <a:srgbClr val="1A1A2E"/>
                </a:solidFill>
                <a:latin typeface="Calibri"/>
                <a:ea typeface="Calibri"/>
                <a:cs typeface="Calibri"/>
                <a:sym typeface="Calibri"/>
              </a:rPr>
              <a:t>Reduces gradient interference by projecting each task gradient onto the normal plane of any conflicting gradient.</a:t>
            </a:r>
            <a:endParaRPr b="0" i="0" sz="1100" u="none" cap="none" strike="noStrike">
              <a:solidFill>
                <a:schemeClr val="dk1"/>
              </a:solidFill>
              <a:latin typeface="Calibri"/>
              <a:ea typeface="Calibri"/>
              <a:cs typeface="Calibri"/>
              <a:sym typeface="Calibri"/>
            </a:endParaRPr>
          </a:p>
        </p:txBody>
      </p:sp>
      <p:sp>
        <p:nvSpPr>
          <p:cNvPr id="96" name="Google Shape;96;p7"/>
          <p:cNvSpPr/>
          <p:nvPr/>
        </p:nvSpPr>
        <p:spPr>
          <a:xfrm>
            <a:off x="3227832" y="1920240"/>
            <a:ext cx="2688336" cy="960120"/>
          </a:xfrm>
          <a:prstGeom prst="rect">
            <a:avLst/>
          </a:prstGeom>
          <a:solidFill>
            <a:srgbClr val="ECEFF1"/>
          </a:solidFill>
          <a:ln cap="flat" cmpd="sng" w="12700">
            <a:solidFill>
              <a:srgbClr val="B0BE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7"/>
          <p:cNvSpPr/>
          <p:nvPr/>
        </p:nvSpPr>
        <p:spPr>
          <a:xfrm>
            <a:off x="3264408" y="1938528"/>
            <a:ext cx="26060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000"/>
              <a:buFont typeface="Consolas"/>
              <a:buNone/>
            </a:pPr>
            <a:r>
              <a:rPr b="0" i="0" lang="en-US" sz="1000" u="none" cap="none" strike="noStrike">
                <a:solidFill>
                  <a:srgbClr val="1A2E5A"/>
                </a:solidFill>
                <a:latin typeface="Consolas"/>
                <a:ea typeface="Consolas"/>
                <a:cs typeface="Consolas"/>
                <a:sym typeface="Consolas"/>
              </a:rPr>
              <a:t>if ĝᵢᵀgⱼ &lt; 0:</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2E5A"/>
              </a:buClr>
              <a:buSzPts val="1000"/>
              <a:buFont typeface="Consolas"/>
              <a:buNone/>
            </a:pPr>
            <a:r>
              <a:rPr b="0" i="0" lang="en-US" sz="1000" u="none" cap="none" strike="noStrike">
                <a:solidFill>
                  <a:srgbClr val="1A2E5A"/>
                </a:solidFill>
                <a:latin typeface="Consolas"/>
                <a:ea typeface="Consolas"/>
                <a:cs typeface="Consolas"/>
                <a:sym typeface="Consolas"/>
              </a:rPr>
              <a:t>  ĝᵢ ← ĝᵢ − (ĝᵢᵀgⱼ/‖gⱼ‖²)gⱼ</a:t>
            </a:r>
            <a:endParaRPr b="0" i="0" sz="1000" u="none" cap="none" strike="noStrike">
              <a:solidFill>
                <a:schemeClr val="dk1"/>
              </a:solidFill>
              <a:latin typeface="Calibri"/>
              <a:ea typeface="Calibri"/>
              <a:cs typeface="Calibri"/>
              <a:sym typeface="Calibri"/>
            </a:endParaRPr>
          </a:p>
        </p:txBody>
      </p:sp>
      <p:sp>
        <p:nvSpPr>
          <p:cNvPr id="98" name="Google Shape;98;p7"/>
          <p:cNvSpPr/>
          <p:nvPr/>
        </p:nvSpPr>
        <p:spPr>
          <a:xfrm>
            <a:off x="3246120" y="2944368"/>
            <a:ext cx="2651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US" sz="1100" u="none" cap="none" strike="noStrike">
                <a:solidFill>
                  <a:srgbClr val="000000"/>
                </a:solidFill>
                <a:latin typeface="Calibri"/>
                <a:ea typeface="Calibri"/>
                <a:cs typeface="Calibri"/>
                <a:sym typeface="Calibri"/>
              </a:rPr>
              <a:t>Property:</a:t>
            </a:r>
            <a:endParaRPr b="0" i="0" sz="1100" u="none" cap="none" strike="noStrike">
              <a:solidFill>
                <a:srgbClr val="000000"/>
              </a:solidFill>
              <a:latin typeface="Calibri"/>
              <a:ea typeface="Calibri"/>
              <a:cs typeface="Calibri"/>
              <a:sym typeface="Calibri"/>
            </a:endParaRPr>
          </a:p>
        </p:txBody>
      </p:sp>
      <p:sp>
        <p:nvSpPr>
          <p:cNvPr id="99" name="Google Shape;99;p7"/>
          <p:cNvSpPr/>
          <p:nvPr/>
        </p:nvSpPr>
        <p:spPr>
          <a:xfrm>
            <a:off x="3246120" y="3145536"/>
            <a:ext cx="265176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Removes the conflicting component with respect to the selected gradient </a:t>
            </a:r>
            <a:endParaRPr b="0" i="0" sz="1100" u="none" cap="none" strike="noStrike">
              <a:solidFill>
                <a:schemeClr val="dk1"/>
              </a:solidFill>
              <a:latin typeface="Calibri"/>
              <a:ea typeface="Calibri"/>
              <a:cs typeface="Calibri"/>
              <a:sym typeface="Calibri"/>
            </a:endParaRPr>
          </a:p>
        </p:txBody>
      </p:sp>
      <p:sp>
        <p:nvSpPr>
          <p:cNvPr id="100" name="Google Shape;100;p7"/>
          <p:cNvSpPr/>
          <p:nvPr/>
        </p:nvSpPr>
        <p:spPr>
          <a:xfrm>
            <a:off x="3246120" y="4014216"/>
            <a:ext cx="265176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101" name="Google Shape;101;p7"/>
          <p:cNvSpPr/>
          <p:nvPr/>
        </p:nvSpPr>
        <p:spPr>
          <a:xfrm>
            <a:off x="6144768" y="685800"/>
            <a:ext cx="2834640" cy="4297680"/>
          </a:xfrm>
          <a:prstGeom prst="rect">
            <a:avLst/>
          </a:prstGeom>
          <a:solidFill>
            <a:srgbClr val="FFFFFF"/>
          </a:solidFill>
          <a:ln cap="flat" cmpd="sng" w="12700">
            <a:solidFill>
              <a:srgbClr val="FF6F00"/>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7"/>
          <p:cNvSpPr/>
          <p:nvPr/>
        </p:nvSpPr>
        <p:spPr>
          <a:xfrm>
            <a:off x="6144768" y="685800"/>
            <a:ext cx="2834640" cy="347472"/>
          </a:xfrm>
          <a:prstGeom prst="rect">
            <a:avLst/>
          </a:prstGeom>
          <a:solidFill>
            <a:srgbClr val="FF6F00"/>
          </a:solidFill>
          <a:ln cap="flat" cmpd="sng" w="12700">
            <a:solidFill>
              <a:srgbClr val="FF6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7"/>
          <p:cNvSpPr/>
          <p:nvPr/>
        </p:nvSpPr>
        <p:spPr>
          <a:xfrm>
            <a:off x="6144768" y="685800"/>
            <a:ext cx="28346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CAGrad</a:t>
            </a:r>
            <a:endParaRPr b="0" i="0" sz="2200" u="none" cap="none" strike="noStrike">
              <a:solidFill>
                <a:schemeClr val="dk1"/>
              </a:solidFill>
              <a:latin typeface="Calibri"/>
              <a:ea typeface="Calibri"/>
              <a:cs typeface="Calibri"/>
              <a:sym typeface="Calibri"/>
            </a:endParaRPr>
          </a:p>
        </p:txBody>
      </p:sp>
      <p:sp>
        <p:nvSpPr>
          <p:cNvPr id="104" name="Google Shape;104;p7"/>
          <p:cNvSpPr/>
          <p:nvPr/>
        </p:nvSpPr>
        <p:spPr>
          <a:xfrm>
            <a:off x="6236208" y="1078992"/>
            <a:ext cx="26517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1" lang="en-US" sz="1100" u="none" cap="none" strike="noStrike">
                <a:solidFill>
                  <a:srgbClr val="1A1A2E"/>
                </a:solidFill>
                <a:latin typeface="Calibri"/>
                <a:ea typeface="Calibri"/>
                <a:cs typeface="Calibri"/>
                <a:sym typeface="Calibri"/>
              </a:rPr>
              <a:t>Minimizes average loss while regularizing by worst-case improvement. Generalizes GD and MGDA as special cases.</a:t>
            </a:r>
            <a:endParaRPr b="0" i="0" sz="1100" u="none" cap="none" strike="noStrike">
              <a:solidFill>
                <a:schemeClr val="dk1"/>
              </a:solidFill>
              <a:latin typeface="Calibri"/>
              <a:ea typeface="Calibri"/>
              <a:cs typeface="Calibri"/>
              <a:sym typeface="Calibri"/>
            </a:endParaRPr>
          </a:p>
        </p:txBody>
      </p:sp>
      <p:sp>
        <p:nvSpPr>
          <p:cNvPr id="105" name="Google Shape;105;p7"/>
          <p:cNvSpPr/>
          <p:nvPr/>
        </p:nvSpPr>
        <p:spPr>
          <a:xfrm>
            <a:off x="6217920" y="1920240"/>
            <a:ext cx="2688336" cy="960120"/>
          </a:xfrm>
          <a:prstGeom prst="rect">
            <a:avLst/>
          </a:prstGeom>
          <a:solidFill>
            <a:srgbClr val="ECEFF1"/>
          </a:solidFill>
          <a:ln cap="flat" cmpd="sng" w="12700">
            <a:solidFill>
              <a:srgbClr val="B0BE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7"/>
          <p:cNvSpPr/>
          <p:nvPr/>
        </p:nvSpPr>
        <p:spPr>
          <a:xfrm>
            <a:off x="6254496" y="1938528"/>
            <a:ext cx="26060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000"/>
              <a:buFont typeface="Consolas"/>
              <a:buNone/>
            </a:pPr>
            <a:r>
              <a:rPr b="0" i="0" lang="en-US" sz="1000" u="none" cap="none" strike="noStrike">
                <a:solidFill>
                  <a:srgbClr val="1A2E5A"/>
                </a:solidFill>
                <a:latin typeface="Consolas"/>
                <a:ea typeface="Consolas"/>
                <a:cs typeface="Consolas"/>
                <a:sym typeface="Consolas"/>
              </a:rPr>
              <a:t>max_d min_i ⟨gᵢ, d⟩</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2E5A"/>
              </a:buClr>
              <a:buSzPts val="1000"/>
              <a:buFont typeface="Consolas"/>
              <a:buNone/>
            </a:pPr>
            <a:r>
              <a:rPr b="0" i="0" lang="en-US" sz="1000" u="none" cap="none" strike="noStrike">
                <a:solidFill>
                  <a:srgbClr val="1A2E5A"/>
                </a:solidFill>
                <a:latin typeface="Consolas"/>
                <a:ea typeface="Consolas"/>
                <a:cs typeface="Consolas"/>
                <a:sym typeface="Consolas"/>
              </a:rPr>
              <a:t>s.t. ‖d − g₀‖ ≤ c‖g₀‖</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2E5A"/>
              </a:buClr>
              <a:buSzPts val="1000"/>
              <a:buFont typeface="Consolas"/>
              <a:buNone/>
            </a:pPr>
            <a:r>
              <a:t/>
            </a:r>
            <a:endParaRPr b="0" i="0" sz="1000" u="none" cap="none" strike="noStrike">
              <a:solidFill>
                <a:schemeClr val="dk1"/>
              </a:solidFill>
              <a:latin typeface="Calibri"/>
              <a:ea typeface="Calibri"/>
              <a:cs typeface="Calibri"/>
              <a:sym typeface="Calibri"/>
            </a:endParaRPr>
          </a:p>
        </p:txBody>
      </p:sp>
      <p:sp>
        <p:nvSpPr>
          <p:cNvPr id="107" name="Google Shape;107;p7"/>
          <p:cNvSpPr/>
          <p:nvPr/>
        </p:nvSpPr>
        <p:spPr>
          <a:xfrm>
            <a:off x="6236208" y="2944368"/>
            <a:ext cx="2651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US" sz="1100" u="none" cap="none" strike="noStrike">
                <a:solidFill>
                  <a:srgbClr val="000000"/>
                </a:solidFill>
                <a:latin typeface="Calibri"/>
                <a:ea typeface="Calibri"/>
                <a:cs typeface="Calibri"/>
                <a:sym typeface="Calibri"/>
              </a:rPr>
              <a:t>Property:</a:t>
            </a:r>
            <a:endParaRPr b="1" i="0" sz="1100" u="none" cap="none" strike="noStrike">
              <a:solidFill>
                <a:srgbClr val="000000"/>
              </a:solidFill>
              <a:latin typeface="Calibri"/>
              <a:ea typeface="Calibri"/>
              <a:cs typeface="Calibri"/>
              <a:sym typeface="Calibri"/>
            </a:endParaRPr>
          </a:p>
        </p:txBody>
      </p:sp>
      <p:sp>
        <p:nvSpPr>
          <p:cNvPr id="108" name="Google Shape;108;p7"/>
          <p:cNvSpPr/>
          <p:nvPr/>
        </p:nvSpPr>
        <p:spPr>
          <a:xfrm>
            <a:off x="6236208" y="3813048"/>
            <a:ext cx="2651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62828"/>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109" name="Google Shape;109;p7"/>
          <p:cNvSpPr/>
          <p:nvPr/>
        </p:nvSpPr>
        <p:spPr>
          <a:xfrm>
            <a:off x="6236208" y="4014216"/>
            <a:ext cx="265176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110" name="Google Shape;110;p7"/>
          <p:cNvSpPr/>
          <p:nvPr/>
        </p:nvSpPr>
        <p:spPr>
          <a:xfrm>
            <a:off x="6236208" y="3145536"/>
            <a:ext cx="265176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Allows user-specified anchor g₀; this thesis sets g₀ from preference p.</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100"/>
              <a:buFont typeface="Calibri"/>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8"/>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8"/>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Related Work III — Many-Objective NLP Datasets</a:t>
            </a:r>
            <a:endParaRPr b="0" i="0" sz="2200" u="none" cap="none" strike="noStrike">
              <a:solidFill>
                <a:schemeClr val="dk1"/>
              </a:solidFill>
              <a:latin typeface="Calibri"/>
              <a:ea typeface="Calibri"/>
              <a:cs typeface="Calibri"/>
              <a:sym typeface="Calibri"/>
            </a:endParaRPr>
          </a:p>
        </p:txBody>
      </p:sp>
      <p:sp>
        <p:nvSpPr>
          <p:cNvPr id="118" name="Google Shape;118;p8"/>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5 / 11</a:t>
            </a:r>
            <a:endParaRPr b="0" i="0" sz="1000" u="none" cap="none" strike="noStrike">
              <a:solidFill>
                <a:schemeClr val="dk1"/>
              </a:solidFill>
              <a:latin typeface="Calibri"/>
              <a:ea typeface="Calibri"/>
              <a:cs typeface="Calibri"/>
              <a:sym typeface="Calibri"/>
            </a:endParaRPr>
          </a:p>
        </p:txBody>
      </p:sp>
      <p:sp>
        <p:nvSpPr>
          <p:cNvPr id="119" name="Google Shape;119;p8"/>
          <p:cNvSpPr/>
          <p:nvPr/>
        </p:nvSpPr>
        <p:spPr>
          <a:xfrm>
            <a:off x="274320" y="713232"/>
            <a:ext cx="4160520" cy="4251960"/>
          </a:xfrm>
          <a:prstGeom prst="rect">
            <a:avLst/>
          </a:prstGeom>
          <a:solidFill>
            <a:srgbClr val="E3F2FD"/>
          </a:solidFill>
          <a:ln cap="flat" cmpd="sng" w="12700">
            <a:solidFill>
              <a:srgbClr val="0288D1"/>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8"/>
          <p:cNvSpPr/>
          <p:nvPr/>
        </p:nvSpPr>
        <p:spPr>
          <a:xfrm>
            <a:off x="274320" y="713232"/>
            <a:ext cx="4160520" cy="274320"/>
          </a:xfrm>
          <a:prstGeom prst="rect">
            <a:avLst/>
          </a:prstGeom>
          <a:solidFill>
            <a:srgbClr val="0288D1"/>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8"/>
          <p:cNvSpPr/>
          <p:nvPr/>
        </p:nvSpPr>
        <p:spPr>
          <a:xfrm>
            <a:off x="274320" y="713232"/>
            <a:ext cx="4160520" cy="27432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UltraFeedback</a:t>
            </a:r>
            <a:endParaRPr b="0" i="0" sz="1100" u="none" cap="none" strike="noStrike">
              <a:solidFill>
                <a:schemeClr val="dk1"/>
              </a:solidFill>
              <a:latin typeface="Calibri"/>
              <a:ea typeface="Calibri"/>
              <a:cs typeface="Calibri"/>
              <a:sym typeface="Calibri"/>
            </a:endParaRPr>
          </a:p>
        </p:txBody>
      </p:sp>
      <p:graphicFrame>
        <p:nvGraphicFramePr>
          <p:cNvPr id="122" name="Google Shape;122;p8"/>
          <p:cNvGraphicFramePr/>
          <p:nvPr/>
        </p:nvGraphicFramePr>
        <p:xfrm>
          <a:off x="384048" y="1051560"/>
          <a:ext cx="3000000" cy="3000000"/>
        </p:xfrm>
        <a:graphic>
          <a:graphicData uri="http://schemas.openxmlformats.org/drawingml/2006/table">
            <a:tbl>
              <a:tblPr>
                <a:noFill/>
                <a:tableStyleId>{1E738F9D-990B-4CE8-911F-98C990CA8010}</a:tableStyleId>
              </a:tblPr>
              <a:tblGrid>
                <a:gridCol w="1554475"/>
                <a:gridCol w="2377450"/>
              </a:tblGrid>
              <a:tr h="384050">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Objective</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1A2E5A"/>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Definition</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solidFill>
                      <a:srgbClr val="1A2E5A"/>
                    </a:solidFill>
                  </a:tcPr>
                </a:tc>
              </a:tr>
              <a:tr h="3840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Instruction-Following</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Responds without deviating from requirements</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Truthfulness</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Grounded in real-world knowledge, no self-contradiction</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Honesty</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Expresses calibrated uncertainty, avoids fabrication</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Helpfulness</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Useful, correct, addresses the problem</a:t>
                      </a:r>
                      <a:endParaRPr sz="1100" u="none" cap="none" strike="noStrike">
                        <a:latin typeface="Calibri"/>
                        <a:ea typeface="Calibri"/>
                        <a:cs typeface="Calibri"/>
                        <a:sym typeface="Calibri"/>
                      </a:endParaRPr>
                    </a:p>
                  </a:txBody>
                  <a:tcPr marT="45725" marB="45725" marR="91450" marL="91450">
                    <a:lnL cap="flat" cmpd="sng" w="9525">
                      <a:solidFill>
                        <a:srgbClr val="BBDEFB"/>
                      </a:solidFill>
                      <a:prstDash val="solid"/>
                      <a:round/>
                      <a:headEnd len="sm" w="sm" type="none"/>
                      <a:tailEnd len="sm" w="sm" type="none"/>
                    </a:lnL>
                    <a:lnR cap="flat" cmpd="sng" w="9525">
                      <a:solidFill>
                        <a:srgbClr val="BBDEFB"/>
                      </a:solidFill>
                      <a:prstDash val="solid"/>
                      <a:round/>
                      <a:headEnd len="sm" w="sm" type="none"/>
                      <a:tailEnd len="sm" w="sm" type="none"/>
                    </a:lnR>
                    <a:lnT cap="flat" cmpd="sng" w="9525">
                      <a:solidFill>
                        <a:srgbClr val="BBDEFB"/>
                      </a:solidFill>
                      <a:prstDash val="solid"/>
                      <a:round/>
                      <a:headEnd len="sm" w="sm" type="none"/>
                      <a:tailEnd len="sm" w="sm" type="none"/>
                    </a:lnT>
                    <a:lnB cap="flat" cmpd="sng" w="9525">
                      <a:solidFill>
                        <a:srgbClr val="BBDEFB"/>
                      </a:solidFill>
                      <a:prstDash val="solid"/>
                      <a:round/>
                      <a:headEnd len="sm" w="sm" type="none"/>
                      <a:tailEnd len="sm" w="sm" type="none"/>
                    </a:lnB>
                  </a:tcPr>
                </a:tc>
              </a:tr>
            </a:tbl>
          </a:graphicData>
        </a:graphic>
      </p:graphicFrame>
      <p:sp>
        <p:nvSpPr>
          <p:cNvPr id="123" name="Google Shape;123;p8"/>
          <p:cNvSpPr/>
          <p:nvPr/>
        </p:nvSpPr>
        <p:spPr>
          <a:xfrm>
            <a:off x="384048" y="3035808"/>
            <a:ext cx="393192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1" i="0" lang="en-US" sz="1100" u="none" cap="none" strike="noStrike">
                <a:solidFill>
                  <a:srgbClr val="1A1A2E"/>
                </a:solidFill>
                <a:latin typeface="Calibri"/>
                <a:ea typeface="Calibri"/>
                <a:cs typeface="Calibri"/>
                <a:sym typeface="Calibri"/>
              </a:rPr>
              <a:t>64k prompts · 256k responses</a:t>
            </a:r>
            <a:br>
              <a:rPr b="1" i="0" lang="en-US" sz="1100" u="none" cap="none" strike="noStrike">
                <a:solidFill>
                  <a:srgbClr val="1A1A2E"/>
                </a:solidFill>
                <a:latin typeface="Calibri"/>
                <a:ea typeface="Calibri"/>
                <a:cs typeface="Calibri"/>
                <a:sym typeface="Calibri"/>
              </a:rPr>
            </a:br>
            <a:r>
              <a:rPr b="0" i="0" lang="en-US" sz="1100" u="none" cap="none" strike="noStrike">
                <a:solidFill>
                  <a:srgbClr val="1A1A2E"/>
                </a:solidFill>
                <a:latin typeface="Calibri"/>
                <a:ea typeface="Calibri"/>
                <a:cs typeface="Calibri"/>
                <a:sym typeface="Calibri"/>
              </a:rPr>
              <a:t>GPT-4 based feedback</a:t>
            </a:r>
            <a:br>
              <a:rPr b="0" i="0" lang="en-US" sz="1100" u="none" cap="none" strike="noStrike">
                <a:solidFill>
                  <a:srgbClr val="1A1A2E"/>
                </a:solidFill>
                <a:latin typeface="Calibri"/>
                <a:ea typeface="Calibri"/>
                <a:cs typeface="Calibri"/>
                <a:sym typeface="Calibri"/>
              </a:rPr>
            </a:br>
            <a:br>
              <a:rPr b="0" i="0" lang="en-US" sz="1100" u="none" cap="none" strike="noStrike">
                <a:solidFill>
                  <a:srgbClr val="1A1A2E"/>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p:txBody>
      </p:sp>
      <p:sp>
        <p:nvSpPr>
          <p:cNvPr id="124" name="Google Shape;124;p8"/>
          <p:cNvSpPr/>
          <p:nvPr/>
        </p:nvSpPr>
        <p:spPr>
          <a:xfrm>
            <a:off x="4709160" y="713232"/>
            <a:ext cx="4160520" cy="4251960"/>
          </a:xfrm>
          <a:prstGeom prst="rect">
            <a:avLst/>
          </a:prstGeom>
          <a:solidFill>
            <a:srgbClr val="E8F5E9"/>
          </a:solidFill>
          <a:ln cap="flat" cmpd="sng" w="12700">
            <a:solidFill>
              <a:srgbClr val="2E7D32"/>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8"/>
          <p:cNvSpPr/>
          <p:nvPr/>
        </p:nvSpPr>
        <p:spPr>
          <a:xfrm>
            <a:off x="4709160" y="713232"/>
            <a:ext cx="4160520" cy="27432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8"/>
          <p:cNvSpPr/>
          <p:nvPr/>
        </p:nvSpPr>
        <p:spPr>
          <a:xfrm>
            <a:off x="4709160" y="713232"/>
            <a:ext cx="4160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HelpSteer</a:t>
            </a:r>
            <a:endParaRPr b="0" i="0" sz="1100" u="none" cap="none" strike="noStrike">
              <a:solidFill>
                <a:schemeClr val="dk1"/>
              </a:solidFill>
              <a:latin typeface="Calibri"/>
              <a:ea typeface="Calibri"/>
              <a:cs typeface="Calibri"/>
              <a:sym typeface="Calibri"/>
            </a:endParaRPr>
          </a:p>
        </p:txBody>
      </p:sp>
      <p:graphicFrame>
        <p:nvGraphicFramePr>
          <p:cNvPr id="127" name="Google Shape;127;p8"/>
          <p:cNvGraphicFramePr/>
          <p:nvPr/>
        </p:nvGraphicFramePr>
        <p:xfrm>
          <a:off x="4818888" y="1051560"/>
          <a:ext cx="3000000" cy="3000000"/>
        </p:xfrm>
        <a:graphic>
          <a:graphicData uri="http://schemas.openxmlformats.org/drawingml/2006/table">
            <a:tbl>
              <a:tblPr>
                <a:noFill/>
                <a:tableStyleId>{1E738F9D-990B-4CE8-911F-98C990CA8010}</a:tableStyleId>
              </a:tblPr>
              <a:tblGrid>
                <a:gridCol w="1371600"/>
                <a:gridCol w="2560325"/>
              </a:tblGrid>
              <a:tr h="368800">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Objective</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solidFill>
                      <a:srgbClr val="1A2E5A"/>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Definition</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solidFill>
                      <a:srgbClr val="1A2E5A"/>
                    </a:solidFill>
                  </a:tcPr>
                </a:tc>
              </a:tr>
              <a:tr h="36880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Helpfulness</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Overall usefulness of the response</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tcPr>
                </a:tc>
              </a:tr>
              <a:tr h="36880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Correctness</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Factual accuracy, all relevant facts included</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tcPr>
                </a:tc>
              </a:tr>
              <a:tr h="36880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Coherence</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Consistency and clarity of expression</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tcPr>
                </a:tc>
              </a:tr>
              <a:tr h="36880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Complexity</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Intellectual depth and domain expertise required</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tcPr>
                </a:tc>
              </a:tr>
              <a:tr h="36880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Verbosity</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Amount of detail — can be biased toward length</a:t>
                      </a:r>
                      <a:endParaRPr sz="1100" u="none" cap="none" strike="noStrike">
                        <a:latin typeface="Calibri"/>
                        <a:ea typeface="Calibri"/>
                        <a:cs typeface="Calibri"/>
                        <a:sym typeface="Calibri"/>
                      </a:endParaRPr>
                    </a:p>
                  </a:txBody>
                  <a:tcPr marT="45725" marB="45725" marR="91450" marL="91450">
                    <a:lnL cap="flat" cmpd="sng" w="9525">
                      <a:solidFill>
                        <a:srgbClr val="C8E6C9"/>
                      </a:solidFill>
                      <a:prstDash val="solid"/>
                      <a:round/>
                      <a:headEnd len="sm" w="sm" type="none"/>
                      <a:tailEnd len="sm" w="sm" type="none"/>
                    </a:lnL>
                    <a:lnR cap="flat" cmpd="sng" w="9525">
                      <a:solidFill>
                        <a:srgbClr val="C8E6C9"/>
                      </a:solidFill>
                      <a:prstDash val="solid"/>
                      <a:round/>
                      <a:headEnd len="sm" w="sm" type="none"/>
                      <a:tailEnd len="sm" w="sm" type="none"/>
                    </a:lnR>
                    <a:lnT cap="flat" cmpd="sng" w="9525">
                      <a:solidFill>
                        <a:srgbClr val="C8E6C9"/>
                      </a:solidFill>
                      <a:prstDash val="solid"/>
                      <a:round/>
                      <a:headEnd len="sm" w="sm" type="none"/>
                      <a:tailEnd len="sm" w="sm" type="none"/>
                    </a:lnT>
                    <a:lnB cap="flat" cmpd="sng" w="9525">
                      <a:solidFill>
                        <a:srgbClr val="C8E6C9"/>
                      </a:solidFill>
                      <a:prstDash val="solid"/>
                      <a:round/>
                      <a:headEnd len="sm" w="sm" type="none"/>
                      <a:tailEnd len="sm" w="sm" type="none"/>
                    </a:lnB>
                  </a:tcPr>
                </a:tc>
              </a:tr>
            </a:tbl>
          </a:graphicData>
        </a:graphic>
      </p:graphicFrame>
      <p:sp>
        <p:nvSpPr>
          <p:cNvPr id="128" name="Google Shape;128;p8"/>
          <p:cNvSpPr/>
          <p:nvPr/>
        </p:nvSpPr>
        <p:spPr>
          <a:xfrm>
            <a:off x="4818888" y="3337560"/>
            <a:ext cx="393192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1" i="0" lang="en-US" sz="1100" u="none" cap="none" strike="noStrike">
                <a:solidFill>
                  <a:srgbClr val="1A1A2E"/>
                </a:solidFill>
                <a:latin typeface="Calibri"/>
                <a:ea typeface="Calibri"/>
                <a:cs typeface="Calibri"/>
                <a:sym typeface="Calibri"/>
              </a:rPr>
              <a:t>37k samples · 200 human annotators</a:t>
            </a:r>
            <a:br>
              <a:rPr b="1" i="0" lang="en-US" sz="1100" u="none" cap="none" strike="noStrike">
                <a:solidFill>
                  <a:srgbClr val="1A1A2E"/>
                </a:solidFill>
                <a:latin typeface="Calibri"/>
                <a:ea typeface="Calibri"/>
                <a:cs typeface="Calibri"/>
                <a:sym typeface="Calibri"/>
              </a:rPr>
            </a:br>
            <a:r>
              <a:rPr b="0" i="0" lang="en-US" sz="1100" u="none" cap="none" strike="noStrike">
                <a:solidFill>
                  <a:srgbClr val="1A1A2E"/>
                </a:solidFill>
                <a:latin typeface="Calibri"/>
                <a:ea typeface="Calibri"/>
                <a:cs typeface="Calibri"/>
                <a:sym typeface="Calibri"/>
              </a:rPr>
              <a:t>scores from</a:t>
            </a:r>
            <a:r>
              <a:rPr b="1" i="0" lang="en-US" sz="1100" u="none" cap="none" strike="noStrike">
                <a:solidFill>
                  <a:srgbClr val="1A1A2E"/>
                </a:solidFill>
                <a:latin typeface="Calibri"/>
                <a:ea typeface="Calibri"/>
                <a:cs typeface="Calibri"/>
                <a:sym typeface="Calibri"/>
              </a:rPr>
              <a:t> </a:t>
            </a:r>
            <a:r>
              <a:rPr b="0" i="0" lang="en-US" sz="1100" u="none" cap="none" strike="noStrike">
                <a:solidFill>
                  <a:srgbClr val="1A1A2E"/>
                </a:solidFill>
                <a:latin typeface="Calibri"/>
                <a:ea typeface="Calibri"/>
                <a:cs typeface="Calibri"/>
                <a:sym typeface="Calibri"/>
              </a:rPr>
              <a:t>0–4 (Likert scale)</a:t>
            </a:r>
            <a:br>
              <a:rPr b="0" i="0" lang="en-US" sz="1100" u="none" cap="none" strike="noStrike">
                <a:solidFill>
                  <a:srgbClr val="1A1A2E"/>
                </a:solidFill>
                <a:latin typeface="Calibri"/>
                <a:ea typeface="Calibri"/>
                <a:cs typeface="Calibri"/>
                <a:sym typeface="Calibri"/>
              </a:rPr>
            </a:br>
            <a:br>
              <a:rPr b="0" i="0" lang="en-US" sz="1100" u="none" cap="none" strike="noStrike">
                <a:solidFill>
                  <a:srgbClr val="1A1A2E"/>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9"/>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9"/>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Related Work IV — ArmoRM &amp; Directional Preference Alignment</a:t>
            </a:r>
            <a:endParaRPr b="0" i="0" sz="2200" u="none" cap="none" strike="noStrike">
              <a:solidFill>
                <a:schemeClr val="dk1"/>
              </a:solidFill>
              <a:latin typeface="Calibri"/>
              <a:ea typeface="Calibri"/>
              <a:cs typeface="Calibri"/>
              <a:sym typeface="Calibri"/>
            </a:endParaRPr>
          </a:p>
        </p:txBody>
      </p:sp>
      <p:sp>
        <p:nvSpPr>
          <p:cNvPr id="136" name="Google Shape;136;p9"/>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6 / 11</a:t>
            </a:r>
            <a:endParaRPr b="0" i="0" sz="1000" u="none" cap="none" strike="noStrike">
              <a:solidFill>
                <a:schemeClr val="dk1"/>
              </a:solidFill>
              <a:latin typeface="Calibri"/>
              <a:ea typeface="Calibri"/>
              <a:cs typeface="Calibri"/>
              <a:sym typeface="Calibri"/>
            </a:endParaRPr>
          </a:p>
        </p:txBody>
      </p:sp>
      <p:sp>
        <p:nvSpPr>
          <p:cNvPr id="137" name="Google Shape;137;p9"/>
          <p:cNvSpPr/>
          <p:nvPr/>
        </p:nvSpPr>
        <p:spPr>
          <a:xfrm>
            <a:off x="274320" y="713232"/>
            <a:ext cx="4160520" cy="3200400"/>
          </a:xfrm>
          <a:prstGeom prst="rect">
            <a:avLst/>
          </a:prstGeom>
          <a:solidFill>
            <a:srgbClr val="E3F2FD"/>
          </a:solidFill>
          <a:ln cap="flat" cmpd="sng" w="12700">
            <a:solidFill>
              <a:srgbClr val="0288D1"/>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9"/>
          <p:cNvSpPr/>
          <p:nvPr/>
        </p:nvSpPr>
        <p:spPr>
          <a:xfrm>
            <a:off x="274320" y="713232"/>
            <a:ext cx="4160520" cy="274320"/>
          </a:xfrm>
          <a:prstGeom prst="rect">
            <a:avLst/>
          </a:prstGeom>
          <a:solidFill>
            <a:srgbClr val="0288D1"/>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9"/>
          <p:cNvSpPr/>
          <p:nvPr/>
        </p:nvSpPr>
        <p:spPr>
          <a:xfrm>
            <a:off x="274320" y="713232"/>
            <a:ext cx="4160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ArmoRM — Multi-Objective Reward Modeling (EMNLP 2024)</a:t>
            </a:r>
            <a:endParaRPr b="0" i="0" sz="1100" u="none" cap="none" strike="noStrike">
              <a:solidFill>
                <a:schemeClr val="dk1"/>
              </a:solidFill>
              <a:latin typeface="Calibri"/>
              <a:ea typeface="Calibri"/>
              <a:cs typeface="Calibri"/>
              <a:sym typeface="Calibri"/>
            </a:endParaRPr>
          </a:p>
        </p:txBody>
      </p:sp>
      <p:sp>
        <p:nvSpPr>
          <p:cNvPr id="140" name="Google Shape;140;p9"/>
          <p:cNvSpPr/>
          <p:nvPr/>
        </p:nvSpPr>
        <p:spPr>
          <a:xfrm>
            <a:off x="411480" y="1051560"/>
            <a:ext cx="3886200" cy="2743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Trains reward model with multiple interpretable objective dimensions</a:t>
            </a:r>
            <a:endParaRPr b="0" i="0" sz="1100" u="none" cap="none" strike="noStrike">
              <a:solidFill>
                <a:srgbClr val="1A1A2E"/>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100"/>
              <a:buFont typeface="Calibri"/>
              <a:buNone/>
            </a:pPr>
            <a:r>
              <a:rPr b="1" i="0" lang="en-US" sz="1100" u="none" cap="none" strike="noStrike">
                <a:solidFill>
                  <a:srgbClr val="1A1A2E"/>
                </a:solidFill>
                <a:latin typeface="Calibri"/>
                <a:ea typeface="Calibri"/>
                <a:cs typeface="Calibri"/>
                <a:sym typeface="Calibri"/>
              </a:rPr>
              <a:t>Output: </a:t>
            </a:r>
            <a:r>
              <a:rPr b="0" i="0" lang="en-US" sz="1100" u="none" cap="none" strike="noStrike">
                <a:solidFill>
                  <a:srgbClr val="1A2E5A"/>
                </a:solidFill>
                <a:latin typeface="Calibri"/>
                <a:ea typeface="Calibri"/>
                <a:cs typeface="Calibri"/>
                <a:sym typeface="Calibri"/>
              </a:rPr>
              <a:t>r(x,y) ∈ ℝᵏ</a:t>
            </a:r>
            <a:br>
              <a:rPr b="0" i="1" lang="en-US" sz="1100" u="none" cap="none" strike="noStrike">
                <a:solidFill>
                  <a:srgbClr val="1A2E5A"/>
                </a:solidFill>
                <a:latin typeface="Calibri"/>
                <a:ea typeface="Calibri"/>
                <a:cs typeface="Calibri"/>
                <a:sym typeface="Calibri"/>
              </a:rPr>
            </a:br>
            <a:br>
              <a:rPr b="0" i="0" lang="en-US" sz="1100" u="none" cap="none" strike="noStrike">
                <a:solidFill>
                  <a:srgbClr val="1A2E5A"/>
                </a:solidFill>
                <a:latin typeface="Calibri"/>
                <a:ea typeface="Calibri"/>
                <a:cs typeface="Calibri"/>
                <a:sym typeface="Calibri"/>
              </a:rPr>
            </a:br>
            <a:r>
              <a:rPr b="0" i="0" lang="en-US" sz="1100" u="none" cap="none" strike="noStrike">
                <a:solidFill>
                  <a:srgbClr val="1A2E5A"/>
                </a:solidFill>
                <a:latin typeface="Calibri"/>
                <a:ea typeface="Calibri"/>
                <a:cs typeface="Calibri"/>
                <a:sym typeface="Calibri"/>
              </a:rPr>
              <a:t>Uses </a:t>
            </a:r>
            <a:r>
              <a:rPr b="0" i="0" lang="en-US" sz="1100" u="none" cap="none" strike="noStrike">
                <a:solidFill>
                  <a:srgbClr val="1A1A2E"/>
                </a:solidFill>
                <a:latin typeface="Calibri"/>
                <a:ea typeface="Calibri"/>
                <a:cs typeface="Calibri"/>
                <a:sym typeface="Calibri"/>
              </a:rPr>
              <a:t>MoE-style gating to learn context-dependent scalarization:</a:t>
            </a:r>
            <a:br>
              <a:rPr b="0" i="0" lang="en-US" sz="1100" u="none" cap="none" strike="noStrike">
                <a:solidFill>
                  <a:srgbClr val="1A1A2E"/>
                </a:solidFill>
                <a:latin typeface="Calibri"/>
                <a:ea typeface="Calibri"/>
                <a:cs typeface="Calibri"/>
                <a:sym typeface="Calibri"/>
              </a:rPr>
            </a:br>
            <a:r>
              <a:rPr b="1" i="0" lang="en-US" sz="1100" u="none" cap="none" strike="noStrike">
                <a:solidFill>
                  <a:srgbClr val="1A2E5A"/>
                </a:solidFill>
                <a:latin typeface="Calibri"/>
                <a:ea typeface="Calibri"/>
                <a:cs typeface="Calibri"/>
                <a:sym typeface="Calibri"/>
              </a:rPr>
              <a:t>R(x,y) = g</a:t>
            </a:r>
            <a:r>
              <a:rPr b="1" baseline="-25000" i="0" lang="en-US" sz="1100" u="none" cap="none" strike="noStrike">
                <a:solidFill>
                  <a:srgbClr val="1A2E5A"/>
                </a:solidFill>
                <a:latin typeface="Calibri"/>
                <a:ea typeface="Calibri"/>
                <a:cs typeface="Calibri"/>
                <a:sym typeface="Calibri"/>
              </a:rPr>
              <a:t>φ</a:t>
            </a:r>
            <a:r>
              <a:rPr b="1" i="0" lang="en-US" sz="1100" u="none" cap="none" strike="noStrike">
                <a:solidFill>
                  <a:srgbClr val="1A2E5A"/>
                </a:solidFill>
                <a:latin typeface="Calibri"/>
                <a:ea typeface="Calibri"/>
                <a:cs typeface="Calibri"/>
                <a:sym typeface="Calibri"/>
              </a:rPr>
              <a:t>(x)ᵀ r(x,y)</a:t>
            </a:r>
            <a:br>
              <a:rPr b="0" i="0" lang="en-US" sz="1100" u="none" cap="none" strike="noStrike">
                <a:solidFill>
                  <a:srgbClr val="1A1A2E"/>
                </a:solidFill>
                <a:latin typeface="Calibri"/>
                <a:ea typeface="Calibri"/>
                <a:cs typeface="Calibri"/>
                <a:sym typeface="Calibri"/>
              </a:rPr>
            </a:br>
            <a:br>
              <a:rPr b="0" i="0" lang="en-US" sz="1100" u="none" cap="none" strike="noStrike">
                <a:solidFill>
                  <a:srgbClr val="1A1A2E"/>
                </a:solidFill>
                <a:latin typeface="Calibri"/>
                <a:ea typeface="Calibri"/>
                <a:cs typeface="Calibri"/>
                <a:sym typeface="Calibri"/>
              </a:rPr>
            </a:br>
            <a:r>
              <a:rPr b="1" i="0" lang="en-US" sz="1100" u="none" cap="none" strike="noStrike">
                <a:solidFill>
                  <a:srgbClr val="0288D1"/>
                </a:solidFill>
                <a:latin typeface="Calibri"/>
                <a:ea typeface="Calibri"/>
                <a:cs typeface="Calibri"/>
                <a:sym typeface="Calibri"/>
              </a:rPr>
              <a:t>Relevance: </a:t>
            </a:r>
            <a:r>
              <a:rPr b="0" i="0" lang="en-US" sz="1100" u="none" cap="none" strike="noStrike">
                <a:solidFill>
                  <a:srgbClr val="1A1A2E"/>
                </a:solidFill>
                <a:latin typeface="Calibri"/>
                <a:ea typeface="Calibri"/>
                <a:cs typeface="Calibri"/>
                <a:sym typeface="Calibri"/>
              </a:rPr>
              <a:t>ArmoRM shows multi-objective reward modeling is meaningful for NLP alignment. Its reward heads, or similar multi-objective reward models, could provide differentiable objectives rⱼ for this thesis.</a:t>
            </a:r>
            <a:endParaRPr b="0" i="0" sz="1100" u="none" cap="none" strike="noStrike">
              <a:solidFill>
                <a:schemeClr val="dk1"/>
              </a:solidFill>
              <a:latin typeface="Calibri"/>
              <a:ea typeface="Calibri"/>
              <a:cs typeface="Calibri"/>
              <a:sym typeface="Calibri"/>
            </a:endParaRPr>
          </a:p>
        </p:txBody>
      </p:sp>
      <p:sp>
        <p:nvSpPr>
          <p:cNvPr id="141" name="Google Shape;141;p9"/>
          <p:cNvSpPr/>
          <p:nvPr/>
        </p:nvSpPr>
        <p:spPr>
          <a:xfrm>
            <a:off x="4709160" y="713232"/>
            <a:ext cx="4160520" cy="3200400"/>
          </a:xfrm>
          <a:prstGeom prst="rect">
            <a:avLst/>
          </a:prstGeom>
          <a:solidFill>
            <a:srgbClr val="FFF8E1"/>
          </a:solidFill>
          <a:ln cap="flat" cmpd="sng" w="12700">
            <a:solidFill>
              <a:srgbClr val="FF6F00"/>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9"/>
          <p:cNvSpPr/>
          <p:nvPr/>
        </p:nvSpPr>
        <p:spPr>
          <a:xfrm>
            <a:off x="4709160" y="713232"/>
            <a:ext cx="4160520" cy="274320"/>
          </a:xfrm>
          <a:prstGeom prst="rect">
            <a:avLst/>
          </a:prstGeom>
          <a:solidFill>
            <a:srgbClr val="FF6F00"/>
          </a:solidFill>
          <a:ln cap="flat" cmpd="sng" w="12700">
            <a:solidFill>
              <a:srgbClr val="FF6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9"/>
          <p:cNvSpPr/>
          <p:nvPr/>
        </p:nvSpPr>
        <p:spPr>
          <a:xfrm>
            <a:off x="4709160" y="713232"/>
            <a:ext cx="4160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DPA — Directional Preference Alignment (ACL 2024)</a:t>
            </a:r>
            <a:endParaRPr b="0" i="0" sz="1100" u="none" cap="none" strike="noStrike">
              <a:solidFill>
                <a:schemeClr val="dk1"/>
              </a:solidFill>
              <a:latin typeface="Calibri"/>
              <a:ea typeface="Calibri"/>
              <a:cs typeface="Calibri"/>
              <a:sym typeface="Calibri"/>
            </a:endParaRPr>
          </a:p>
        </p:txBody>
      </p:sp>
      <p:sp>
        <p:nvSpPr>
          <p:cNvPr id="144" name="Google Shape;144;p9"/>
          <p:cNvSpPr/>
          <p:nvPr/>
        </p:nvSpPr>
        <p:spPr>
          <a:xfrm>
            <a:off x="4846320" y="1051560"/>
            <a:ext cx="3886200" cy="2743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Models user preferenc</a:t>
            </a:r>
            <a:r>
              <a:rPr b="0" i="0" lang="en-US" sz="1100" u="none" cap="none" strike="noStrike">
                <a:solidFill>
                  <a:srgbClr val="000000"/>
                </a:solidFill>
                <a:latin typeface="Calibri"/>
                <a:ea typeface="Calibri"/>
                <a:cs typeface="Calibri"/>
                <a:sym typeface="Calibri"/>
              </a:rPr>
              <a:t>es as directions in multi-objective reward space, not as scalar weights</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User preference: p = preference direction in reward space</a:t>
            </a:r>
            <a:br>
              <a:rPr b="0" i="1" lang="en-US" sz="1100" u="none" cap="none" strike="noStrike">
                <a:solidFill>
                  <a:srgbClr val="1A2E5A"/>
                </a:solidFill>
                <a:latin typeface="Calibri"/>
                <a:ea typeface="Calibri"/>
                <a:cs typeface="Calibri"/>
                <a:sym typeface="Calibri"/>
              </a:rPr>
            </a:br>
            <a:br>
              <a:rPr b="0" i="1" lang="en-US" sz="1100" u="none" cap="none" strike="noStrike">
                <a:solidFill>
                  <a:srgbClr val="1A2E5A"/>
                </a:solidFill>
                <a:latin typeface="Calibri"/>
                <a:ea typeface="Calibri"/>
                <a:cs typeface="Calibri"/>
                <a:sym typeface="Calibri"/>
              </a:rPr>
            </a:br>
            <a:r>
              <a:rPr b="0" i="0" lang="en-US" sz="1100" u="none" cap="none" strike="noStrike">
                <a:solidFill>
                  <a:srgbClr val="1A1A2E"/>
                </a:solidFill>
                <a:latin typeface="Calibri"/>
                <a:ea typeface="Calibri"/>
                <a:cs typeface="Calibri"/>
                <a:sym typeface="Calibri"/>
              </a:rPr>
              <a:t>DPA motivates p as a preference direction in reward space. In this thesis, λ is the separate parameter-space merge coefficient vector. </a:t>
            </a:r>
            <a:br>
              <a:rPr b="0" i="0" lang="en-US" sz="1100" u="none" cap="none" strike="noStrike">
                <a:solidFill>
                  <a:srgbClr val="1A1A2E"/>
                </a:solidFill>
                <a:latin typeface="Calibri"/>
                <a:ea typeface="Calibri"/>
                <a:cs typeface="Calibri"/>
                <a:sym typeface="Calibri"/>
              </a:rPr>
            </a:br>
            <a:br>
              <a:rPr b="0" i="0" lang="en-US" sz="1100" u="none" cap="none" strike="noStrike">
                <a:solidFill>
                  <a:srgbClr val="1A1A2E"/>
                </a:solidFill>
                <a:latin typeface="Calibri"/>
                <a:ea typeface="Calibri"/>
                <a:cs typeface="Calibri"/>
                <a:sym typeface="Calibri"/>
              </a:rPr>
            </a:br>
            <a:r>
              <a:rPr b="1" i="0" lang="en-US" sz="1100" u="none" cap="none" strike="noStrike">
                <a:solidFill>
                  <a:srgbClr val="FF6F00"/>
                </a:solidFill>
                <a:latin typeface="Calibri"/>
                <a:ea typeface="Calibri"/>
                <a:cs typeface="Calibri"/>
                <a:sym typeface="Calibri"/>
              </a:rPr>
              <a:t>Relevance: </a:t>
            </a:r>
            <a:r>
              <a:rPr b="0" i="1" lang="en-US" sz="1100" u="none" cap="none" strike="noStrike">
                <a:solidFill>
                  <a:srgbClr val="1A1A2E"/>
                </a:solidFill>
                <a:latin typeface="Calibri"/>
                <a:ea typeface="Calibri"/>
                <a:cs typeface="Calibri"/>
                <a:sym typeface="Calibri"/>
              </a:rPr>
              <a:t>DPA directly motivates the distinction p ≠ λ — the central argument of this thesis.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0"/>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0"/>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Methodology I — Static Task-Vector Geometry (Q_task)</a:t>
            </a:r>
            <a:endParaRPr b="0" i="0" sz="2200" u="none" cap="none" strike="noStrike">
              <a:solidFill>
                <a:schemeClr val="dk1"/>
              </a:solidFill>
              <a:latin typeface="Calibri"/>
              <a:ea typeface="Calibri"/>
              <a:cs typeface="Calibri"/>
              <a:sym typeface="Calibri"/>
            </a:endParaRPr>
          </a:p>
        </p:txBody>
      </p:sp>
      <p:sp>
        <p:nvSpPr>
          <p:cNvPr id="152" name="Google Shape;152;p10"/>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7 /11</a:t>
            </a:r>
            <a:endParaRPr b="0" i="0" sz="1000" u="none" cap="none" strike="noStrike">
              <a:solidFill>
                <a:schemeClr val="dk1"/>
              </a:solidFill>
              <a:latin typeface="Calibri"/>
              <a:ea typeface="Calibri"/>
              <a:cs typeface="Calibri"/>
              <a:sym typeface="Calibri"/>
            </a:endParaRPr>
          </a:p>
        </p:txBody>
      </p:sp>
      <p:sp>
        <p:nvSpPr>
          <p:cNvPr id="153" name="Google Shape;153;p10"/>
          <p:cNvSpPr/>
          <p:nvPr/>
        </p:nvSpPr>
        <p:spPr>
          <a:xfrm>
            <a:off x="274320" y="713232"/>
            <a:ext cx="8595360" cy="1234440"/>
          </a:xfrm>
          <a:prstGeom prst="rect">
            <a:avLst/>
          </a:prstGeom>
          <a:solidFill>
            <a:srgbClr val="E3F2FD"/>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0"/>
          <p:cNvSpPr/>
          <p:nvPr/>
        </p:nvSpPr>
        <p:spPr>
          <a:xfrm>
            <a:off x="457200" y="777240"/>
            <a:ext cx="45720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100"/>
              <a:buFont typeface="Calibri"/>
              <a:buNone/>
            </a:pPr>
            <a:r>
              <a:rPr b="1" i="0" lang="en-US" sz="1100" u="none" cap="none" strike="noStrike">
                <a:solidFill>
                  <a:srgbClr val="1A2E5A"/>
                </a:solidFill>
                <a:latin typeface="Calibri"/>
                <a:ea typeface="Calibri"/>
                <a:cs typeface="Calibri"/>
                <a:sym typeface="Calibri"/>
              </a:rPr>
              <a:t>Task Vectors: </a:t>
            </a:r>
            <a:endParaRPr b="0" i="0" sz="1100" u="none" cap="none" strike="noStrike">
              <a:solidFill>
                <a:schemeClr val="dk1"/>
              </a:solidFill>
              <a:latin typeface="Calibri"/>
              <a:ea typeface="Calibri"/>
              <a:cs typeface="Calibri"/>
              <a:sym typeface="Calibri"/>
            </a:endParaRPr>
          </a:p>
        </p:txBody>
      </p:sp>
      <p:sp>
        <p:nvSpPr>
          <p:cNvPr id="155" name="Google Shape;155;p10"/>
          <p:cNvSpPr/>
          <p:nvPr/>
        </p:nvSpPr>
        <p:spPr>
          <a:xfrm>
            <a:off x="457200" y="1033272"/>
            <a:ext cx="457200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800"/>
              <a:buFont typeface="Calibri"/>
              <a:buNone/>
            </a:pPr>
            <a:r>
              <a:rPr b="1" i="0" lang="en-US" sz="1800" u="none" cap="none" strike="noStrike">
                <a:solidFill>
                  <a:srgbClr val="1A2E5A"/>
                </a:solidFill>
                <a:latin typeface="Calibri"/>
                <a:ea typeface="Calibri"/>
                <a:cs typeface="Calibri"/>
                <a:sym typeface="Calibri"/>
              </a:rPr>
              <a:t>δᵢ = θᵢ − θ₀     and     θ(λ) = θ₀ + Σᵢ λᵢ δᵢ</a:t>
            </a:r>
            <a:endParaRPr b="0" i="0" sz="1800" u="none" cap="none" strike="noStrike">
              <a:solidFill>
                <a:schemeClr val="dk1"/>
              </a:solidFill>
              <a:latin typeface="Calibri"/>
              <a:ea typeface="Calibri"/>
              <a:cs typeface="Calibri"/>
              <a:sym typeface="Calibri"/>
            </a:endParaRPr>
          </a:p>
        </p:txBody>
      </p:sp>
      <p:sp>
        <p:nvSpPr>
          <p:cNvPr id="156" name="Google Shape;156;p10"/>
          <p:cNvSpPr/>
          <p:nvPr/>
        </p:nvSpPr>
        <p:spPr>
          <a:xfrm>
            <a:off x="4754880" y="777240"/>
            <a:ext cx="393192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300"/>
              <a:buFont typeface="Calibri"/>
              <a:buNone/>
            </a:pPr>
            <a:r>
              <a:rPr b="0" i="0" lang="en-US" sz="1300" u="none" cap="none" strike="noStrike">
                <a:solidFill>
                  <a:srgbClr val="1A1A2E"/>
                </a:solidFill>
                <a:latin typeface="Calibri"/>
                <a:ea typeface="Calibri"/>
                <a:cs typeface="Calibri"/>
                <a:sym typeface="Calibri"/>
              </a:rPr>
              <a:t>Each δᵢ is a parameter-space direction induced by objective-specific fine-tuning. The Gram matrix Q_task = D⊤D is the static prior; the dynamic counterpart Q_grad(λ) appears on Slide 9.</a:t>
            </a:r>
            <a:endParaRPr b="0" i="0" sz="1300" u="none" cap="none" strike="noStrike">
              <a:solidFill>
                <a:schemeClr val="dk1"/>
              </a:solidFill>
              <a:latin typeface="Calibri"/>
              <a:ea typeface="Calibri"/>
              <a:cs typeface="Calibri"/>
              <a:sym typeface="Calibri"/>
            </a:endParaRPr>
          </a:p>
        </p:txBody>
      </p:sp>
      <p:sp>
        <p:nvSpPr>
          <p:cNvPr id="157" name="Google Shape;157;p10"/>
          <p:cNvSpPr/>
          <p:nvPr/>
        </p:nvSpPr>
        <p:spPr>
          <a:xfrm>
            <a:off x="274320" y="2103120"/>
            <a:ext cx="2834640" cy="2834640"/>
          </a:xfrm>
          <a:prstGeom prst="rect">
            <a:avLst/>
          </a:prstGeom>
          <a:solidFill>
            <a:srgbClr val="FFFFFF"/>
          </a:solidFill>
          <a:ln cap="flat" cmpd="sng" w="12700">
            <a:solidFill>
              <a:srgbClr val="2E7D32"/>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0"/>
          <p:cNvSpPr/>
          <p:nvPr/>
        </p:nvSpPr>
        <p:spPr>
          <a:xfrm>
            <a:off x="274320" y="2103120"/>
            <a:ext cx="2834640" cy="32004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0"/>
          <p:cNvSpPr/>
          <p:nvPr/>
        </p:nvSpPr>
        <p:spPr>
          <a:xfrm>
            <a:off x="274320" y="2103120"/>
            <a:ext cx="28346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Complementary</a:t>
            </a:r>
            <a:endParaRPr b="0" i="0" sz="1100" u="none" cap="none" strike="noStrike">
              <a:solidFill>
                <a:schemeClr val="dk1"/>
              </a:solidFill>
              <a:latin typeface="Calibri"/>
              <a:ea typeface="Calibri"/>
              <a:cs typeface="Calibri"/>
              <a:sym typeface="Calibri"/>
            </a:endParaRPr>
          </a:p>
        </p:txBody>
      </p:sp>
      <p:sp>
        <p:nvSpPr>
          <p:cNvPr id="160" name="Google Shape;160;p10"/>
          <p:cNvSpPr/>
          <p:nvPr/>
        </p:nvSpPr>
        <p:spPr>
          <a:xfrm>
            <a:off x="365760" y="2468880"/>
            <a:ext cx="26517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300"/>
              <a:buFont typeface="Calibri"/>
              <a:buNone/>
            </a:pPr>
            <a:r>
              <a:rPr b="1" i="0" lang="en-US" sz="1300" u="none" cap="none" strike="noStrike">
                <a:solidFill>
                  <a:srgbClr val="2E7D32"/>
                </a:solidFill>
                <a:latin typeface="Calibri"/>
                <a:ea typeface="Calibri"/>
                <a:cs typeface="Calibri"/>
                <a:sym typeface="Calibri"/>
              </a:rPr>
              <a:t>δᵢᵀδⱼ &gt; 0</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E7D32"/>
              </a:buClr>
              <a:buSzPts val="1300"/>
              <a:buFont typeface="Calibri"/>
              <a:buNone/>
            </a:pPr>
            <a:r>
              <a:rPr b="1" i="0" lang="en-US" sz="1300" u="none" cap="none" strike="noStrike">
                <a:solidFill>
                  <a:srgbClr val="2E7D32"/>
                </a:solidFill>
                <a:latin typeface="Calibri"/>
                <a:ea typeface="Calibri"/>
                <a:cs typeface="Calibri"/>
                <a:sym typeface="Calibri"/>
              </a:rPr>
              <a:t>Possible alignment signal</a:t>
            </a:r>
            <a:endParaRPr b="0" i="0" sz="1300" u="none" cap="none" strike="noStrike">
              <a:solidFill>
                <a:schemeClr val="dk1"/>
              </a:solidFill>
              <a:latin typeface="Calibri"/>
              <a:ea typeface="Calibri"/>
              <a:cs typeface="Calibri"/>
              <a:sym typeface="Calibri"/>
            </a:endParaRPr>
          </a:p>
        </p:txBody>
      </p:sp>
      <p:sp>
        <p:nvSpPr>
          <p:cNvPr id="161" name="Google Shape;161;p10"/>
          <p:cNvSpPr/>
          <p:nvPr/>
        </p:nvSpPr>
        <p:spPr>
          <a:xfrm>
            <a:off x="365760" y="3063240"/>
            <a:ext cx="2651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1100"/>
              <a:buFont typeface="Calibri"/>
              <a:buNone/>
            </a:pPr>
            <a:r>
              <a:rPr b="1" i="0" lang="en-US" sz="1100" u="none" cap="none" strike="noStrike">
                <a:solidFill>
                  <a:srgbClr val="546E7A"/>
                </a:solidFill>
                <a:latin typeface="Calibri"/>
                <a:ea typeface="Calibri"/>
                <a:cs typeface="Calibri"/>
                <a:sym typeface="Calibri"/>
              </a:rPr>
              <a:t>Possible Example:</a:t>
            </a:r>
            <a:endParaRPr b="0" i="0" sz="1100" u="none" cap="none" strike="noStrike">
              <a:solidFill>
                <a:schemeClr val="dk1"/>
              </a:solidFill>
              <a:latin typeface="Calibri"/>
              <a:ea typeface="Calibri"/>
              <a:cs typeface="Calibri"/>
              <a:sym typeface="Calibri"/>
            </a:endParaRPr>
          </a:p>
        </p:txBody>
      </p:sp>
      <p:sp>
        <p:nvSpPr>
          <p:cNvPr id="162" name="Google Shape;162;p10"/>
          <p:cNvSpPr/>
          <p:nvPr/>
        </p:nvSpPr>
        <p:spPr>
          <a:xfrm>
            <a:off x="365760" y="3264408"/>
            <a:ext cx="26517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1" lang="en-US" sz="1100" u="none" cap="none" strike="noStrike">
                <a:solidFill>
                  <a:srgbClr val="1A1A2E"/>
                </a:solidFill>
                <a:latin typeface="Calibri"/>
                <a:ea typeface="Calibri"/>
                <a:cs typeface="Calibri"/>
                <a:sym typeface="Calibri"/>
              </a:rPr>
              <a:t>Truthfulness + Instruction-Following</a:t>
            </a:r>
            <a:endParaRPr b="0" i="0" sz="1100" u="none" cap="none" strike="noStrike">
              <a:solidFill>
                <a:schemeClr val="dk1"/>
              </a:solidFill>
              <a:latin typeface="Calibri"/>
              <a:ea typeface="Calibri"/>
              <a:cs typeface="Calibri"/>
              <a:sym typeface="Calibri"/>
            </a:endParaRPr>
          </a:p>
        </p:txBody>
      </p:sp>
      <p:sp>
        <p:nvSpPr>
          <p:cNvPr id="163" name="Google Shape;163;p10"/>
          <p:cNvSpPr/>
          <p:nvPr/>
        </p:nvSpPr>
        <p:spPr>
          <a:xfrm>
            <a:off x="365760" y="4069080"/>
            <a:ext cx="2651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100"/>
              <a:buFont typeface="Calibri"/>
              <a:buNone/>
            </a:pPr>
            <a:r>
              <a:rPr b="1" i="0" lang="en-US" sz="1100" u="none" cap="none" strike="noStrike">
                <a:solidFill>
                  <a:srgbClr val="1A2E5A"/>
                </a:solidFill>
                <a:latin typeface="Calibri"/>
                <a:ea typeface="Calibri"/>
                <a:cs typeface="Calibri"/>
                <a:sym typeface="Calibri"/>
              </a:rPr>
              <a:t>Algorithm response:</a:t>
            </a:r>
            <a:endParaRPr b="0" i="0" sz="1100" u="none" cap="none" strike="noStrike">
              <a:solidFill>
                <a:schemeClr val="dk1"/>
              </a:solidFill>
              <a:latin typeface="Calibri"/>
              <a:ea typeface="Calibri"/>
              <a:cs typeface="Calibri"/>
              <a:sym typeface="Calibri"/>
            </a:endParaRPr>
          </a:p>
        </p:txBody>
      </p:sp>
      <p:sp>
        <p:nvSpPr>
          <p:cNvPr id="164" name="Google Shape;164;p10"/>
          <p:cNvSpPr/>
          <p:nvPr/>
        </p:nvSpPr>
        <p:spPr>
          <a:xfrm>
            <a:off x="365760" y="4279392"/>
            <a:ext cx="2651760"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Algorithms may increase combined influence of aligned directions </a:t>
            </a:r>
            <a:endParaRPr b="0" i="0" sz="1100" u="none" cap="none" strike="noStrike">
              <a:solidFill>
                <a:schemeClr val="dk1"/>
              </a:solidFill>
              <a:latin typeface="Calibri"/>
              <a:ea typeface="Calibri"/>
              <a:cs typeface="Calibri"/>
              <a:sym typeface="Calibri"/>
            </a:endParaRPr>
          </a:p>
        </p:txBody>
      </p:sp>
      <p:sp>
        <p:nvSpPr>
          <p:cNvPr id="165" name="Google Shape;165;p10"/>
          <p:cNvSpPr/>
          <p:nvPr/>
        </p:nvSpPr>
        <p:spPr>
          <a:xfrm>
            <a:off x="3337560" y="2103120"/>
            <a:ext cx="2834640" cy="2834640"/>
          </a:xfrm>
          <a:prstGeom prst="rect">
            <a:avLst/>
          </a:prstGeom>
          <a:solidFill>
            <a:srgbClr val="FFFFFF"/>
          </a:solidFill>
          <a:ln cap="flat" cmpd="sng" w="12700">
            <a:solidFill>
              <a:srgbClr val="C62828"/>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0"/>
          <p:cNvSpPr/>
          <p:nvPr/>
        </p:nvSpPr>
        <p:spPr>
          <a:xfrm>
            <a:off x="3337560" y="2103120"/>
            <a:ext cx="2834640" cy="320040"/>
          </a:xfrm>
          <a:prstGeom prst="rect">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0"/>
          <p:cNvSpPr/>
          <p:nvPr/>
        </p:nvSpPr>
        <p:spPr>
          <a:xfrm>
            <a:off x="3337560" y="2103120"/>
            <a:ext cx="28346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Suppressive</a:t>
            </a:r>
            <a:endParaRPr b="0" i="0" sz="1100" u="none" cap="none" strike="noStrike">
              <a:solidFill>
                <a:schemeClr val="dk1"/>
              </a:solidFill>
              <a:latin typeface="Calibri"/>
              <a:ea typeface="Calibri"/>
              <a:cs typeface="Calibri"/>
              <a:sym typeface="Calibri"/>
            </a:endParaRPr>
          </a:p>
        </p:txBody>
      </p:sp>
      <p:sp>
        <p:nvSpPr>
          <p:cNvPr id="168" name="Google Shape;168;p10"/>
          <p:cNvSpPr/>
          <p:nvPr/>
        </p:nvSpPr>
        <p:spPr>
          <a:xfrm>
            <a:off x="3429000" y="2468880"/>
            <a:ext cx="26517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62828"/>
              </a:buClr>
              <a:buSzPts val="1300"/>
              <a:buFont typeface="Calibri"/>
              <a:buNone/>
            </a:pPr>
            <a:r>
              <a:rPr b="1" i="0" lang="en-US" sz="1300" u="none" cap="none" strike="noStrike">
                <a:solidFill>
                  <a:srgbClr val="C62828"/>
                </a:solidFill>
                <a:latin typeface="Calibri"/>
                <a:ea typeface="Calibri"/>
                <a:cs typeface="Calibri"/>
                <a:sym typeface="Calibri"/>
              </a:rPr>
              <a:t>δᵢᵀδⱼ &lt; 0</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C62828"/>
              </a:buClr>
              <a:buSzPts val="1300"/>
              <a:buFont typeface="Calibri"/>
              <a:buNone/>
            </a:pPr>
            <a:r>
              <a:rPr b="1" i="0" lang="en-US" sz="1300" u="none" cap="none" strike="noStrike">
                <a:solidFill>
                  <a:srgbClr val="C62828"/>
                </a:solidFill>
                <a:latin typeface="Calibri"/>
                <a:ea typeface="Calibri"/>
                <a:cs typeface="Calibri"/>
                <a:sym typeface="Calibri"/>
              </a:rPr>
              <a:t>Possible conflict signal</a:t>
            </a:r>
            <a:endParaRPr b="0" i="0" sz="1300" u="none" cap="none" strike="noStrike">
              <a:solidFill>
                <a:schemeClr val="dk1"/>
              </a:solidFill>
              <a:latin typeface="Calibri"/>
              <a:ea typeface="Calibri"/>
              <a:cs typeface="Calibri"/>
              <a:sym typeface="Calibri"/>
            </a:endParaRPr>
          </a:p>
        </p:txBody>
      </p:sp>
      <p:sp>
        <p:nvSpPr>
          <p:cNvPr id="169" name="Google Shape;169;p10"/>
          <p:cNvSpPr/>
          <p:nvPr/>
        </p:nvSpPr>
        <p:spPr>
          <a:xfrm>
            <a:off x="3429000" y="3063240"/>
            <a:ext cx="2651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46E7A"/>
              </a:buClr>
              <a:buSzPts val="1100"/>
              <a:buFont typeface="Calibri"/>
              <a:buNone/>
            </a:pPr>
            <a:r>
              <a:rPr b="1" i="0" lang="en-US" sz="1100" u="none" cap="none" strike="noStrike">
                <a:solidFill>
                  <a:srgbClr val="546E7A"/>
                </a:solidFill>
                <a:latin typeface="Calibri"/>
                <a:ea typeface="Calibri"/>
                <a:cs typeface="Calibri"/>
                <a:sym typeface="Calibri"/>
              </a:rPr>
              <a:t>Possible Example:</a:t>
            </a:r>
            <a:endParaRPr b="0" i="0" sz="1100" u="none" cap="none" strike="noStrike">
              <a:solidFill>
                <a:schemeClr val="dk1"/>
              </a:solidFill>
              <a:latin typeface="Calibri"/>
              <a:ea typeface="Calibri"/>
              <a:cs typeface="Calibri"/>
              <a:sym typeface="Calibri"/>
            </a:endParaRPr>
          </a:p>
        </p:txBody>
      </p:sp>
      <p:sp>
        <p:nvSpPr>
          <p:cNvPr id="170" name="Google Shape;170;p10"/>
          <p:cNvSpPr/>
          <p:nvPr/>
        </p:nvSpPr>
        <p:spPr>
          <a:xfrm>
            <a:off x="3429000" y="3264408"/>
            <a:ext cx="26517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1" lang="en-US" sz="1100" u="none" cap="none" strike="noStrike">
                <a:solidFill>
                  <a:srgbClr val="1A1A2E"/>
                </a:solidFill>
                <a:latin typeface="Calibri"/>
                <a:ea typeface="Calibri"/>
                <a:cs typeface="Calibri"/>
                <a:sym typeface="Calibri"/>
              </a:rPr>
              <a:t>Honesty + Helpfulness (UltraFeedback)</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100"/>
              <a:buFont typeface="Calibri"/>
              <a:buNone/>
            </a:pPr>
            <a:r>
              <a:rPr b="0" i="1" lang="en-US" sz="1100" u="none" cap="none" strike="noStrike">
                <a:solidFill>
                  <a:srgbClr val="1A1A2E"/>
                </a:solidFill>
                <a:latin typeface="Calibri"/>
                <a:ea typeface="Calibri"/>
                <a:cs typeface="Calibri"/>
                <a:sym typeface="Calibri"/>
              </a:rPr>
              <a:t>Verbosity + Correctness (HelpSteer)</a:t>
            </a:r>
            <a:endParaRPr b="0" i="0" sz="1100" u="none" cap="none" strike="noStrike">
              <a:solidFill>
                <a:schemeClr val="dk1"/>
              </a:solidFill>
              <a:latin typeface="Calibri"/>
              <a:ea typeface="Calibri"/>
              <a:cs typeface="Calibri"/>
              <a:sym typeface="Calibri"/>
            </a:endParaRPr>
          </a:p>
        </p:txBody>
      </p:sp>
      <p:sp>
        <p:nvSpPr>
          <p:cNvPr id="171" name="Google Shape;171;p10"/>
          <p:cNvSpPr/>
          <p:nvPr/>
        </p:nvSpPr>
        <p:spPr>
          <a:xfrm>
            <a:off x="3429000" y="4069080"/>
            <a:ext cx="2651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100"/>
              <a:buFont typeface="Calibri"/>
              <a:buNone/>
            </a:pPr>
            <a:r>
              <a:rPr b="1" i="0" lang="en-US" sz="1100" u="none" cap="none" strike="noStrike">
                <a:solidFill>
                  <a:srgbClr val="1A2E5A"/>
                </a:solidFill>
                <a:latin typeface="Calibri"/>
                <a:ea typeface="Calibri"/>
                <a:cs typeface="Calibri"/>
                <a:sym typeface="Calibri"/>
              </a:rPr>
              <a:t>Algorithm response:</a:t>
            </a:r>
            <a:endParaRPr b="0" i="0" sz="1100" u="none" cap="none" strike="noStrike">
              <a:solidFill>
                <a:schemeClr val="dk1"/>
              </a:solidFill>
              <a:latin typeface="Calibri"/>
              <a:ea typeface="Calibri"/>
              <a:cs typeface="Calibri"/>
              <a:sym typeface="Calibri"/>
            </a:endParaRPr>
          </a:p>
        </p:txBody>
      </p:sp>
      <p:sp>
        <p:nvSpPr>
          <p:cNvPr id="172" name="Google Shape;172;p10"/>
          <p:cNvSpPr/>
          <p:nvPr/>
        </p:nvSpPr>
        <p:spPr>
          <a:xfrm>
            <a:off x="3429000" y="4279392"/>
            <a:ext cx="2651760"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PCGrad projects away conflict;</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MGDA-style balancing may reduce the influence of conflicting directions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11"/>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1"/>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Methodology II — Proposed Method: λ = f(p, ℛ)</a:t>
            </a:r>
            <a:endParaRPr b="0" i="0" sz="2200" u="none" cap="none" strike="noStrike">
              <a:solidFill>
                <a:schemeClr val="dk1"/>
              </a:solidFill>
              <a:latin typeface="Calibri"/>
              <a:ea typeface="Calibri"/>
              <a:cs typeface="Calibri"/>
              <a:sym typeface="Calibri"/>
            </a:endParaRPr>
          </a:p>
        </p:txBody>
      </p:sp>
      <p:sp>
        <p:nvSpPr>
          <p:cNvPr id="180" name="Google Shape;180;p11"/>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8 / 11</a:t>
            </a:r>
            <a:endParaRPr b="0" i="0" sz="1000" u="none" cap="none" strike="noStrike">
              <a:solidFill>
                <a:schemeClr val="dk1"/>
              </a:solidFill>
              <a:latin typeface="Calibri"/>
              <a:ea typeface="Calibri"/>
              <a:cs typeface="Calibri"/>
              <a:sym typeface="Calibri"/>
            </a:endParaRPr>
          </a:p>
        </p:txBody>
      </p:sp>
      <p:sp>
        <p:nvSpPr>
          <p:cNvPr id="181" name="Google Shape;181;p11"/>
          <p:cNvSpPr/>
          <p:nvPr/>
        </p:nvSpPr>
        <p:spPr>
          <a:xfrm>
            <a:off x="274320" y="713232"/>
            <a:ext cx="8595360" cy="1005840"/>
          </a:xfrm>
          <a:prstGeom prst="rect">
            <a:avLst/>
          </a:prstGeom>
          <a:solidFill>
            <a:srgbClr val="E8EAF6"/>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1"/>
          <p:cNvSpPr/>
          <p:nvPr/>
        </p:nvSpPr>
        <p:spPr>
          <a:xfrm>
            <a:off x="457200" y="777240"/>
            <a:ext cx="27432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100"/>
              <a:buFont typeface="Calibri"/>
              <a:buNone/>
            </a:pPr>
            <a:r>
              <a:rPr b="1" i="0" lang="en-US" sz="1100" u="none" cap="none" strike="noStrike">
                <a:solidFill>
                  <a:srgbClr val="1A2E5A"/>
                </a:solidFill>
                <a:latin typeface="Calibri"/>
                <a:ea typeface="Calibri"/>
                <a:cs typeface="Calibri"/>
                <a:sym typeface="Calibri"/>
              </a:rPr>
              <a:t>Central Contribution:</a:t>
            </a:r>
            <a:endParaRPr b="0" i="0" sz="1100" u="none" cap="none" strike="noStrike">
              <a:solidFill>
                <a:schemeClr val="dk1"/>
              </a:solidFill>
              <a:latin typeface="Calibri"/>
              <a:ea typeface="Calibri"/>
              <a:cs typeface="Calibri"/>
              <a:sym typeface="Calibri"/>
            </a:endParaRPr>
          </a:p>
        </p:txBody>
      </p:sp>
      <p:sp>
        <p:nvSpPr>
          <p:cNvPr id="183" name="Google Shape;183;p11"/>
          <p:cNvSpPr/>
          <p:nvPr/>
        </p:nvSpPr>
        <p:spPr>
          <a:xfrm>
            <a:off x="457200" y="987552"/>
            <a:ext cx="8229600" cy="5943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E5A"/>
              </a:buClr>
              <a:buSzPts val="1800"/>
              <a:buFont typeface="Calibri"/>
              <a:buNone/>
            </a:pPr>
            <a:r>
              <a:rPr b="1" i="0" lang="en-US" sz="1800" u="none" cap="none" strike="noStrike">
                <a:solidFill>
                  <a:srgbClr val="1A2E5A"/>
                </a:solidFill>
                <a:latin typeface="Calibri"/>
                <a:ea typeface="Calibri"/>
                <a:cs typeface="Calibri"/>
                <a:sym typeface="Calibri"/>
              </a:rPr>
              <a:t>δᵢ  →  θ(λ)  →  Fⱼ(λ) = -r</a:t>
            </a:r>
            <a:r>
              <a:rPr b="1" baseline="-25000" i="0" lang="en-US" sz="1800" u="none" cap="none" strike="noStrike">
                <a:solidFill>
                  <a:srgbClr val="1A2E5A"/>
                </a:solidFill>
                <a:latin typeface="Calibri"/>
                <a:ea typeface="Calibri"/>
                <a:cs typeface="Calibri"/>
                <a:sym typeface="Calibri"/>
              </a:rPr>
              <a:t>j</a:t>
            </a:r>
            <a:r>
              <a:rPr b="1" i="0" lang="en-US" sz="1800" u="none" cap="none" strike="noStrike">
                <a:solidFill>
                  <a:srgbClr val="1A2E5A"/>
                </a:solidFill>
                <a:latin typeface="Calibri"/>
                <a:ea typeface="Calibri"/>
                <a:cs typeface="Calibri"/>
                <a:sym typeface="Calibri"/>
              </a:rPr>
              <a:t>(θ(λ))  →  ∇</a:t>
            </a:r>
            <a:r>
              <a:rPr b="1" baseline="-25000" i="0" lang="en-US" sz="1800" u="none" cap="none" strike="noStrike">
                <a:solidFill>
                  <a:srgbClr val="1A2E5A"/>
                </a:solidFill>
                <a:latin typeface="Calibri"/>
                <a:ea typeface="Calibri"/>
                <a:cs typeface="Calibri"/>
                <a:sym typeface="Calibri"/>
              </a:rPr>
              <a:t>λ</a:t>
            </a:r>
            <a:r>
              <a:rPr b="1" i="0" lang="en-US" sz="1800" u="none" cap="none" strike="noStrike">
                <a:solidFill>
                  <a:srgbClr val="1A2E5A"/>
                </a:solidFill>
                <a:latin typeface="Calibri"/>
                <a:ea typeface="Calibri"/>
                <a:cs typeface="Calibri"/>
                <a:sym typeface="Calibri"/>
              </a:rPr>
              <a:t>Fⱼ(λ)  →  ℛ  →  λ* = f(p,ℛ)  →  θ_merge</a:t>
            </a:r>
            <a:endParaRPr b="0" i="0" sz="1800" u="none" cap="none" strike="noStrike">
              <a:solidFill>
                <a:schemeClr val="dk1"/>
              </a:solidFill>
              <a:latin typeface="Calibri"/>
              <a:ea typeface="Calibri"/>
              <a:cs typeface="Calibri"/>
              <a:sym typeface="Calibri"/>
            </a:endParaRPr>
          </a:p>
        </p:txBody>
      </p:sp>
      <p:sp>
        <p:nvSpPr>
          <p:cNvPr id="184" name="Google Shape;184;p11"/>
          <p:cNvSpPr/>
          <p:nvPr/>
        </p:nvSpPr>
        <p:spPr>
          <a:xfrm>
            <a:off x="219517" y="1865380"/>
            <a:ext cx="1645800" cy="2697600"/>
          </a:xfrm>
          <a:prstGeom prst="rect">
            <a:avLst/>
          </a:prstGeom>
          <a:solidFill>
            <a:srgbClr val="FFFFFF"/>
          </a:solidFill>
          <a:ln cap="flat" cmpd="sng" w="12700">
            <a:solidFill>
              <a:srgbClr val="0288D1"/>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1"/>
          <p:cNvSpPr/>
          <p:nvPr/>
        </p:nvSpPr>
        <p:spPr>
          <a:xfrm>
            <a:off x="219517" y="1865380"/>
            <a:ext cx="1645800" cy="320100"/>
          </a:xfrm>
          <a:prstGeom prst="rect">
            <a:avLst/>
          </a:prstGeom>
          <a:solidFill>
            <a:srgbClr val="0288D1"/>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1"/>
          <p:cNvSpPr/>
          <p:nvPr/>
        </p:nvSpPr>
        <p:spPr>
          <a:xfrm>
            <a:off x="219517" y="1865380"/>
            <a:ext cx="16458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 Train Specialists</a:t>
            </a:r>
            <a:endParaRPr b="0" i="0" sz="1000" u="none" cap="none" strike="noStrike">
              <a:solidFill>
                <a:srgbClr val="000000"/>
              </a:solidFill>
              <a:latin typeface="Calibri"/>
              <a:ea typeface="Calibri"/>
              <a:cs typeface="Calibri"/>
              <a:sym typeface="Calibri"/>
            </a:endParaRPr>
          </a:p>
        </p:txBody>
      </p:sp>
      <p:sp>
        <p:nvSpPr>
          <p:cNvPr id="187" name="Google Shape;187;p11"/>
          <p:cNvSpPr/>
          <p:nvPr/>
        </p:nvSpPr>
        <p:spPr>
          <a:xfrm>
            <a:off x="292669" y="2212852"/>
            <a:ext cx="1508700" cy="2286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Train m specialists θ₁,...,θₘ from shared base θ₀.</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000"/>
              <a:buFont typeface="Calibri"/>
              <a:buNone/>
            </a:pPr>
            <a:r>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Compute task vectors: </a:t>
            </a:r>
            <a:endParaRPr b="0" i="0" sz="1000" u="none" cap="none" strike="noStrike">
              <a:solidFill>
                <a:srgbClr val="1A1A2E"/>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δᵢ = θᵢ − θ₀</a:t>
            </a:r>
            <a:endParaRPr b="0" i="0" sz="1000" u="none" cap="none" strike="noStrike">
              <a:solidFill>
                <a:srgbClr val="000000"/>
              </a:solidFill>
              <a:latin typeface="Calibri"/>
              <a:ea typeface="Calibri"/>
              <a:cs typeface="Calibri"/>
              <a:sym typeface="Calibri"/>
            </a:endParaRPr>
          </a:p>
        </p:txBody>
      </p:sp>
      <p:cxnSp>
        <p:nvCxnSpPr>
          <p:cNvPr id="188" name="Google Shape;188;p11"/>
          <p:cNvCxnSpPr/>
          <p:nvPr/>
        </p:nvCxnSpPr>
        <p:spPr>
          <a:xfrm>
            <a:off x="1883725" y="3145540"/>
            <a:ext cx="73200" cy="0"/>
          </a:xfrm>
          <a:prstGeom prst="straightConnector1">
            <a:avLst/>
          </a:prstGeom>
          <a:noFill/>
          <a:ln cap="flat" cmpd="sng" w="19050">
            <a:solidFill>
              <a:srgbClr val="546E7A"/>
            </a:solidFill>
            <a:prstDash val="solid"/>
            <a:round/>
            <a:headEnd len="sm" w="sm" type="none"/>
            <a:tailEnd len="sm" w="sm" type="none"/>
          </a:ln>
        </p:spPr>
      </p:cxnSp>
      <p:sp>
        <p:nvSpPr>
          <p:cNvPr id="189" name="Google Shape;189;p11"/>
          <p:cNvSpPr/>
          <p:nvPr/>
        </p:nvSpPr>
        <p:spPr>
          <a:xfrm>
            <a:off x="1892869" y="3008380"/>
            <a:ext cx="2286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6E7A"/>
              </a:buClr>
              <a:buSzPts val="1400"/>
              <a:buFont typeface="Calibri"/>
              <a:buNone/>
            </a:pPr>
            <a:r>
              <a:rPr b="0" i="0" lang="en-US" sz="1400" u="none" cap="none" strike="noStrike">
                <a:solidFill>
                  <a:srgbClr val="546E7A"/>
                </a:solidFill>
                <a:latin typeface="Calibri"/>
                <a:ea typeface="Calibri"/>
                <a:cs typeface="Calibri"/>
                <a:sym typeface="Calibri"/>
              </a:rPr>
              <a:t>→</a:t>
            </a:r>
            <a:endParaRPr b="0" i="0" sz="1400" u="none" cap="none" strike="noStrike">
              <a:solidFill>
                <a:srgbClr val="000000"/>
              </a:solidFill>
              <a:latin typeface="Calibri"/>
              <a:ea typeface="Calibri"/>
              <a:cs typeface="Calibri"/>
              <a:sym typeface="Calibri"/>
            </a:endParaRPr>
          </a:p>
        </p:txBody>
      </p:sp>
      <p:sp>
        <p:nvSpPr>
          <p:cNvPr id="190" name="Google Shape;190;p11"/>
          <p:cNvSpPr/>
          <p:nvPr/>
        </p:nvSpPr>
        <p:spPr>
          <a:xfrm>
            <a:off x="1984309" y="1865380"/>
            <a:ext cx="1645800" cy="2697600"/>
          </a:xfrm>
          <a:prstGeom prst="rect">
            <a:avLst/>
          </a:prstGeom>
          <a:solidFill>
            <a:srgbClr val="FFFFFF"/>
          </a:solidFill>
          <a:ln cap="flat" cmpd="sng" w="12700">
            <a:solidFill>
              <a:srgbClr val="1565C0"/>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1"/>
          <p:cNvSpPr/>
          <p:nvPr/>
        </p:nvSpPr>
        <p:spPr>
          <a:xfrm>
            <a:off x="1984309" y="1865380"/>
            <a:ext cx="1645800" cy="3201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1"/>
          <p:cNvSpPr/>
          <p:nvPr/>
        </p:nvSpPr>
        <p:spPr>
          <a:xfrm>
            <a:off x="1984309" y="1865380"/>
            <a:ext cx="16458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 Initialize Soup</a:t>
            </a:r>
            <a:endParaRPr b="0" i="0" sz="1000" u="none" cap="none" strike="noStrike">
              <a:solidFill>
                <a:srgbClr val="000000"/>
              </a:solidFill>
              <a:latin typeface="Calibri"/>
              <a:ea typeface="Calibri"/>
              <a:cs typeface="Calibri"/>
              <a:sym typeface="Calibri"/>
            </a:endParaRPr>
          </a:p>
        </p:txBody>
      </p:sp>
      <p:sp>
        <p:nvSpPr>
          <p:cNvPr id="193" name="Google Shape;193;p11"/>
          <p:cNvSpPr/>
          <p:nvPr/>
        </p:nvSpPr>
        <p:spPr>
          <a:xfrm>
            <a:off x="2057461" y="2212852"/>
            <a:ext cx="1508700" cy="2286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Set starting coefficients:</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λ⁽⁰⁾ = p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900"/>
              <a:buFont typeface="Calibri"/>
              <a:buNone/>
            </a:pPr>
            <a:r>
              <a:rPr b="0" i="0" lang="en-US" sz="900" u="none" cap="none" strike="noStrike">
                <a:solidFill>
                  <a:srgbClr val="1A1A2E"/>
                </a:solidFill>
                <a:latin typeface="Calibri"/>
                <a:ea typeface="Calibri"/>
                <a:cs typeface="Calibri"/>
                <a:sym typeface="Calibri"/>
              </a:rPr>
              <a:t>θ⁽⁰⁾ = θ₀ + Σᵢ pᵢ δᵢ</a:t>
            </a:r>
            <a:endParaRPr b="0" i="0" sz="1000" u="none" cap="none" strike="noStrike">
              <a:solidFill>
                <a:srgbClr val="000000"/>
              </a:solidFill>
              <a:latin typeface="Calibri"/>
              <a:ea typeface="Calibri"/>
              <a:cs typeface="Calibri"/>
              <a:sym typeface="Calibri"/>
            </a:endParaRPr>
          </a:p>
        </p:txBody>
      </p:sp>
      <p:cxnSp>
        <p:nvCxnSpPr>
          <p:cNvPr id="194" name="Google Shape;194;p11"/>
          <p:cNvCxnSpPr/>
          <p:nvPr/>
        </p:nvCxnSpPr>
        <p:spPr>
          <a:xfrm>
            <a:off x="3648517" y="3145540"/>
            <a:ext cx="73200" cy="0"/>
          </a:xfrm>
          <a:prstGeom prst="straightConnector1">
            <a:avLst/>
          </a:prstGeom>
          <a:noFill/>
          <a:ln cap="flat" cmpd="sng" w="19050">
            <a:solidFill>
              <a:srgbClr val="546E7A"/>
            </a:solidFill>
            <a:prstDash val="solid"/>
            <a:round/>
            <a:headEnd len="sm" w="sm" type="none"/>
            <a:tailEnd len="sm" w="sm" type="none"/>
          </a:ln>
        </p:spPr>
      </p:cxnSp>
      <p:sp>
        <p:nvSpPr>
          <p:cNvPr id="195" name="Google Shape;195;p11"/>
          <p:cNvSpPr/>
          <p:nvPr/>
        </p:nvSpPr>
        <p:spPr>
          <a:xfrm>
            <a:off x="3657661" y="3008380"/>
            <a:ext cx="2286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6E7A"/>
              </a:buClr>
              <a:buSzPts val="1400"/>
              <a:buFont typeface="Calibri"/>
              <a:buNone/>
            </a:pPr>
            <a:r>
              <a:rPr b="0" i="0" lang="en-US" sz="1400" u="none" cap="none" strike="noStrike">
                <a:solidFill>
                  <a:srgbClr val="546E7A"/>
                </a:solidFill>
                <a:latin typeface="Calibri"/>
                <a:ea typeface="Calibri"/>
                <a:cs typeface="Calibri"/>
                <a:sym typeface="Calibri"/>
              </a:rPr>
              <a:t>→</a:t>
            </a:r>
            <a:endParaRPr b="0" i="0" sz="1400" u="none" cap="none" strike="noStrike">
              <a:solidFill>
                <a:srgbClr val="000000"/>
              </a:solidFill>
              <a:latin typeface="Calibri"/>
              <a:ea typeface="Calibri"/>
              <a:cs typeface="Calibri"/>
              <a:sym typeface="Calibri"/>
            </a:endParaRPr>
          </a:p>
        </p:txBody>
      </p:sp>
      <p:sp>
        <p:nvSpPr>
          <p:cNvPr id="196" name="Google Shape;196;p11"/>
          <p:cNvSpPr/>
          <p:nvPr/>
        </p:nvSpPr>
        <p:spPr>
          <a:xfrm>
            <a:off x="3749101" y="1865380"/>
            <a:ext cx="1645800" cy="2697600"/>
          </a:xfrm>
          <a:prstGeom prst="rect">
            <a:avLst/>
          </a:prstGeom>
          <a:solidFill>
            <a:srgbClr val="FFFFFF"/>
          </a:solidFill>
          <a:ln cap="flat" cmpd="sng" w="12700">
            <a:solidFill>
              <a:srgbClr val="FF6F00"/>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1"/>
          <p:cNvSpPr/>
          <p:nvPr/>
        </p:nvSpPr>
        <p:spPr>
          <a:xfrm>
            <a:off x="3749101" y="1865380"/>
            <a:ext cx="1645800" cy="320100"/>
          </a:xfrm>
          <a:prstGeom prst="rect">
            <a:avLst/>
          </a:prstGeom>
          <a:solidFill>
            <a:srgbClr val="FF6F00"/>
          </a:solidFill>
          <a:ln cap="flat" cmpd="sng" w="12700">
            <a:solidFill>
              <a:srgbClr val="FF6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1"/>
          <p:cNvSpPr/>
          <p:nvPr/>
        </p:nvSpPr>
        <p:spPr>
          <a:xfrm>
            <a:off x="3749101" y="1865380"/>
            <a:ext cx="16458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 Compute ∇</a:t>
            </a:r>
            <a:r>
              <a:rPr b="1" baseline="-25000" i="0" lang="en-US" sz="1000" u="none" cap="none" strike="noStrike">
                <a:solidFill>
                  <a:srgbClr val="FFFFFF"/>
                </a:solidFill>
                <a:latin typeface="Calibri"/>
                <a:ea typeface="Calibri"/>
                <a:cs typeface="Calibri"/>
                <a:sym typeface="Calibri"/>
              </a:rPr>
              <a:t>λ</a:t>
            </a:r>
            <a:r>
              <a:rPr b="1" i="0" lang="en-US" sz="1000" u="none" cap="none" strike="noStrike">
                <a:solidFill>
                  <a:srgbClr val="FFFFFF"/>
                </a:solidFill>
                <a:latin typeface="Calibri"/>
                <a:ea typeface="Calibri"/>
                <a:cs typeface="Calibri"/>
                <a:sym typeface="Calibri"/>
              </a:rPr>
              <a:t>Fⱼ</a:t>
            </a:r>
            <a:endParaRPr b="0" i="0" sz="1000" u="none" cap="none" strike="noStrike">
              <a:solidFill>
                <a:srgbClr val="FFFFFF"/>
              </a:solidFill>
              <a:latin typeface="Calibri"/>
              <a:ea typeface="Calibri"/>
              <a:cs typeface="Calibri"/>
              <a:sym typeface="Calibri"/>
            </a:endParaRPr>
          </a:p>
        </p:txBody>
      </p:sp>
      <p:sp>
        <p:nvSpPr>
          <p:cNvPr id="199" name="Google Shape;199;p11"/>
          <p:cNvSpPr/>
          <p:nvPr/>
        </p:nvSpPr>
        <p:spPr>
          <a:xfrm>
            <a:off x="3822253" y="2212852"/>
            <a:ext cx="1508700" cy="2286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For each objective j (assuming differentiable Fⱼ), compute:</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900"/>
              <a:buFont typeface="Calibri"/>
              <a:buNone/>
            </a:pPr>
            <a:r>
              <a:rPr b="0" i="0" lang="en-US" sz="900" u="none" cap="none" strike="noStrike">
                <a:solidFill>
                  <a:srgbClr val="1A1A2E"/>
                </a:solidFill>
                <a:latin typeface="Calibri"/>
                <a:ea typeface="Calibri"/>
                <a:cs typeface="Calibri"/>
                <a:sym typeface="Calibri"/>
              </a:rPr>
              <a:t>qⱼ(λ) = ∇ₜFⱼ = δᵢᵀ ∇θ fⱼ(θ(λ))</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1A1A2E"/>
              </a:buClr>
              <a:buSzPts val="900"/>
              <a:buFont typeface="Calibri"/>
              <a:buNone/>
            </a:pPr>
            <a:r>
              <a:rPr b="0" i="0" lang="en-US" sz="900" u="none" cap="none" strike="noStrike">
                <a:solidFill>
                  <a:srgbClr val="1A1A2E"/>
                </a:solidFill>
                <a:latin typeface="Calibri"/>
                <a:ea typeface="Calibri"/>
                <a:cs typeface="Calibri"/>
                <a:sym typeface="Calibri"/>
              </a:rPr>
              <a:t>Q^gradⱼₖ(λ) = qⱼᵀqₖ</a:t>
            </a:r>
            <a:endParaRPr b="0" i="0" sz="1000" u="none" cap="none" strike="noStrike">
              <a:solidFill>
                <a:srgbClr val="000000"/>
              </a:solidFill>
              <a:latin typeface="Calibri"/>
              <a:ea typeface="Calibri"/>
              <a:cs typeface="Calibri"/>
              <a:sym typeface="Calibri"/>
            </a:endParaRPr>
          </a:p>
        </p:txBody>
      </p:sp>
      <p:cxnSp>
        <p:nvCxnSpPr>
          <p:cNvPr id="200" name="Google Shape;200;p11"/>
          <p:cNvCxnSpPr/>
          <p:nvPr/>
        </p:nvCxnSpPr>
        <p:spPr>
          <a:xfrm>
            <a:off x="5413309" y="3145540"/>
            <a:ext cx="73200" cy="0"/>
          </a:xfrm>
          <a:prstGeom prst="straightConnector1">
            <a:avLst/>
          </a:prstGeom>
          <a:noFill/>
          <a:ln cap="flat" cmpd="sng" w="19050">
            <a:solidFill>
              <a:srgbClr val="546E7A"/>
            </a:solidFill>
            <a:prstDash val="solid"/>
            <a:round/>
            <a:headEnd len="sm" w="sm" type="none"/>
            <a:tailEnd len="sm" w="sm" type="none"/>
          </a:ln>
        </p:spPr>
      </p:cxnSp>
      <p:sp>
        <p:nvSpPr>
          <p:cNvPr id="201" name="Google Shape;201;p11"/>
          <p:cNvSpPr/>
          <p:nvPr/>
        </p:nvSpPr>
        <p:spPr>
          <a:xfrm>
            <a:off x="5422453" y="3008380"/>
            <a:ext cx="2286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6E7A"/>
              </a:buClr>
              <a:buSzPts val="1400"/>
              <a:buFont typeface="Calibri"/>
              <a:buNone/>
            </a:pPr>
            <a:r>
              <a:rPr b="0" i="0" lang="en-US" sz="1400" u="none" cap="none" strike="noStrike">
                <a:solidFill>
                  <a:srgbClr val="546E7A"/>
                </a:solidFill>
                <a:latin typeface="Calibri"/>
                <a:ea typeface="Calibri"/>
                <a:cs typeface="Calibri"/>
                <a:sym typeface="Calibri"/>
              </a:rPr>
              <a:t>→</a:t>
            </a:r>
            <a:endParaRPr b="0" i="0" sz="1400" u="none" cap="none" strike="noStrike">
              <a:solidFill>
                <a:srgbClr val="000000"/>
              </a:solidFill>
              <a:latin typeface="Calibri"/>
              <a:ea typeface="Calibri"/>
              <a:cs typeface="Calibri"/>
              <a:sym typeface="Calibri"/>
            </a:endParaRPr>
          </a:p>
        </p:txBody>
      </p:sp>
      <p:sp>
        <p:nvSpPr>
          <p:cNvPr id="202" name="Google Shape;202;p11"/>
          <p:cNvSpPr/>
          <p:nvPr/>
        </p:nvSpPr>
        <p:spPr>
          <a:xfrm>
            <a:off x="5513893" y="1865380"/>
            <a:ext cx="1645800" cy="2697600"/>
          </a:xfrm>
          <a:prstGeom prst="rect">
            <a:avLst/>
          </a:prstGeom>
          <a:solidFill>
            <a:srgbClr val="FFFFFF"/>
          </a:solidFill>
          <a:ln cap="flat" cmpd="sng" w="12700">
            <a:solidFill>
              <a:srgbClr val="1A2E5A"/>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1"/>
          <p:cNvSpPr/>
          <p:nvPr/>
        </p:nvSpPr>
        <p:spPr>
          <a:xfrm>
            <a:off x="5513893" y="1865380"/>
            <a:ext cx="1645800" cy="320100"/>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1"/>
          <p:cNvSpPr/>
          <p:nvPr/>
        </p:nvSpPr>
        <p:spPr>
          <a:xfrm>
            <a:off x="5513893" y="1865380"/>
            <a:ext cx="16458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 Conflict-Aware Update</a:t>
            </a:r>
            <a:endParaRPr b="0" i="0" sz="1000" u="none" cap="none" strike="noStrike">
              <a:solidFill>
                <a:srgbClr val="000000"/>
              </a:solidFill>
              <a:latin typeface="Calibri"/>
              <a:ea typeface="Calibri"/>
              <a:cs typeface="Calibri"/>
              <a:sym typeface="Calibri"/>
            </a:endParaRPr>
          </a:p>
        </p:txBody>
      </p:sp>
      <p:sp>
        <p:nvSpPr>
          <p:cNvPr id="205" name="Google Shape;205;p11"/>
          <p:cNvSpPr/>
          <p:nvPr/>
        </p:nvSpPr>
        <p:spPr>
          <a:xfrm>
            <a:off x="5587045" y="2212852"/>
            <a:ext cx="1508700" cy="2286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Apply MGDA / PCGrad / CAGrad</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to {∇λ Fⱼ} → d*</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λᵗ⁺¹ = Π_Δ(λᵗ − η·d*)</a:t>
            </a:r>
            <a:endParaRPr b="0" i="0" sz="1000" u="none" cap="none" strike="noStrike">
              <a:solidFill>
                <a:srgbClr val="000000"/>
              </a:solidFill>
              <a:latin typeface="Calibri"/>
              <a:ea typeface="Calibri"/>
              <a:cs typeface="Calibri"/>
              <a:sym typeface="Calibri"/>
            </a:endParaRPr>
          </a:p>
        </p:txBody>
      </p:sp>
      <p:cxnSp>
        <p:nvCxnSpPr>
          <p:cNvPr id="206" name="Google Shape;206;p11"/>
          <p:cNvCxnSpPr/>
          <p:nvPr/>
        </p:nvCxnSpPr>
        <p:spPr>
          <a:xfrm>
            <a:off x="7178101" y="3145540"/>
            <a:ext cx="73200" cy="0"/>
          </a:xfrm>
          <a:prstGeom prst="straightConnector1">
            <a:avLst/>
          </a:prstGeom>
          <a:noFill/>
          <a:ln cap="flat" cmpd="sng" w="19050">
            <a:solidFill>
              <a:srgbClr val="546E7A"/>
            </a:solidFill>
            <a:prstDash val="solid"/>
            <a:round/>
            <a:headEnd len="sm" w="sm" type="none"/>
            <a:tailEnd len="sm" w="sm" type="none"/>
          </a:ln>
        </p:spPr>
      </p:cxnSp>
      <p:sp>
        <p:nvSpPr>
          <p:cNvPr id="207" name="Google Shape;207;p11"/>
          <p:cNvSpPr/>
          <p:nvPr/>
        </p:nvSpPr>
        <p:spPr>
          <a:xfrm>
            <a:off x="7187245" y="3008380"/>
            <a:ext cx="2286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6E7A"/>
              </a:buClr>
              <a:buSzPts val="1400"/>
              <a:buFont typeface="Calibri"/>
              <a:buNone/>
            </a:pPr>
            <a:r>
              <a:rPr b="0" i="0" lang="en-US" sz="1400" u="none" cap="none" strike="noStrike">
                <a:solidFill>
                  <a:srgbClr val="546E7A"/>
                </a:solidFill>
                <a:latin typeface="Calibri"/>
                <a:ea typeface="Calibri"/>
                <a:cs typeface="Calibri"/>
                <a:sym typeface="Calibri"/>
              </a:rPr>
              <a:t>→</a:t>
            </a:r>
            <a:endParaRPr b="0" i="0" sz="1400" u="none" cap="none" strike="noStrike">
              <a:solidFill>
                <a:srgbClr val="000000"/>
              </a:solidFill>
              <a:latin typeface="Calibri"/>
              <a:ea typeface="Calibri"/>
              <a:cs typeface="Calibri"/>
              <a:sym typeface="Calibri"/>
            </a:endParaRPr>
          </a:p>
        </p:txBody>
      </p:sp>
      <p:sp>
        <p:nvSpPr>
          <p:cNvPr id="208" name="Google Shape;208;p11"/>
          <p:cNvSpPr/>
          <p:nvPr/>
        </p:nvSpPr>
        <p:spPr>
          <a:xfrm>
            <a:off x="7278685" y="1865380"/>
            <a:ext cx="1645800" cy="2697600"/>
          </a:xfrm>
          <a:prstGeom prst="rect">
            <a:avLst/>
          </a:prstGeom>
          <a:solidFill>
            <a:srgbClr val="FFFFFF"/>
          </a:solidFill>
          <a:ln cap="flat" cmpd="sng" w="12700">
            <a:solidFill>
              <a:srgbClr val="2E7D32"/>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1"/>
          <p:cNvSpPr/>
          <p:nvPr/>
        </p:nvSpPr>
        <p:spPr>
          <a:xfrm>
            <a:off x="7278685" y="1865380"/>
            <a:ext cx="1645800" cy="3201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1"/>
          <p:cNvSpPr/>
          <p:nvPr/>
        </p:nvSpPr>
        <p:spPr>
          <a:xfrm>
            <a:off x="7278685" y="1865380"/>
            <a:ext cx="16458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5. Final Model</a:t>
            </a:r>
            <a:endParaRPr b="0" i="0" sz="1000" u="none" cap="none" strike="noStrike">
              <a:solidFill>
                <a:srgbClr val="000000"/>
              </a:solidFill>
              <a:latin typeface="Calibri"/>
              <a:ea typeface="Calibri"/>
              <a:cs typeface="Calibri"/>
              <a:sym typeface="Calibri"/>
            </a:endParaRPr>
          </a:p>
        </p:txBody>
      </p:sp>
      <p:sp>
        <p:nvSpPr>
          <p:cNvPr id="211" name="Google Shape;211;p11"/>
          <p:cNvSpPr/>
          <p:nvPr/>
        </p:nvSpPr>
        <p:spPr>
          <a:xfrm>
            <a:off x="7351837" y="2212852"/>
            <a:ext cx="1508700" cy="2286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θ* = θ(λ*) = </a:t>
            </a:r>
            <a:r>
              <a:rPr b="0" i="0" lang="en-US" sz="900" u="none" cap="none" strike="noStrike">
                <a:solidFill>
                  <a:srgbClr val="1A1A2E"/>
                </a:solidFill>
                <a:latin typeface="Calibri"/>
                <a:ea typeface="Calibri"/>
                <a:cs typeface="Calibri"/>
                <a:sym typeface="Calibri"/>
              </a:rPr>
              <a:t>θ₀ + Σᵢ λᵢ* δᵢ</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λ* ≠ p: corrected by inter-objective structure ℛ</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A1A2E"/>
              </a:buClr>
              <a:buSzPts val="900"/>
              <a:buFont typeface="Calibri"/>
              <a:buNone/>
            </a:pPr>
            <a:r>
              <a:rPr b="0" i="0" lang="en-US" sz="900" u="none" cap="none" strike="noStrike">
                <a:solidFill>
                  <a:srgbClr val="1A1A2E"/>
                </a:solidFill>
                <a:latin typeface="Calibri"/>
                <a:ea typeface="Calibri"/>
                <a:cs typeface="Calibri"/>
                <a:sym typeface="Calibri"/>
              </a:rPr>
              <a:t>Evaluate vs. RS baseline</a:t>
            </a:r>
            <a:endParaRPr b="0" i="0" sz="10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12"/>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2"/>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Methodology III — Variants and Evaluation </a:t>
            </a:r>
            <a:endParaRPr b="0" i="0" sz="2200" u="none" cap="none" strike="noStrike">
              <a:solidFill>
                <a:schemeClr val="dk1"/>
              </a:solidFill>
              <a:latin typeface="Calibri"/>
              <a:ea typeface="Calibri"/>
              <a:cs typeface="Calibri"/>
              <a:sym typeface="Calibri"/>
            </a:endParaRPr>
          </a:p>
        </p:txBody>
      </p:sp>
      <p:sp>
        <p:nvSpPr>
          <p:cNvPr id="219" name="Google Shape;219;p12"/>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9 / 11</a:t>
            </a:r>
            <a:endParaRPr b="0" i="0" sz="1000" u="none" cap="none" strike="noStrike">
              <a:solidFill>
                <a:schemeClr val="dk1"/>
              </a:solidFill>
              <a:latin typeface="Calibri"/>
              <a:ea typeface="Calibri"/>
              <a:cs typeface="Calibri"/>
              <a:sym typeface="Calibri"/>
            </a:endParaRPr>
          </a:p>
        </p:txBody>
      </p:sp>
      <p:sp>
        <p:nvSpPr>
          <p:cNvPr id="220" name="Google Shape;220;p12"/>
          <p:cNvSpPr txBox="1"/>
          <p:nvPr/>
        </p:nvSpPr>
        <p:spPr>
          <a:xfrm>
            <a:off x="320050" y="992150"/>
            <a:ext cx="8207100" cy="3855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Goal</a:t>
            </a:r>
            <a:r>
              <a:rPr b="0" i="0" lang="en-US" sz="1400" u="none" cap="none" strike="noStrike">
                <a:solidFill>
                  <a:srgbClr val="000000"/>
                </a:solidFill>
                <a:latin typeface="Calibri"/>
                <a:ea typeface="Calibri"/>
                <a:cs typeface="Calibri"/>
                <a:sym typeface="Calibri"/>
              </a:rPr>
              <a:t>: Compare different ways to compute corrected merge coefficients: </a:t>
            </a:r>
            <a:r>
              <a:rPr b="1" i="0" lang="en-US" sz="1400" u="none" cap="none" strike="noStrike">
                <a:solidFill>
                  <a:srgbClr val="000000"/>
                </a:solidFill>
                <a:latin typeface="Calibri"/>
                <a:ea typeface="Calibri"/>
                <a:cs typeface="Calibri"/>
                <a:sym typeface="Calibri"/>
              </a:rPr>
              <a:t>λ* = f(p, ℛ) </a:t>
            </a:r>
            <a:r>
              <a:rPr b="0" i="0" lang="en-US" sz="1400" u="none" cap="none" strike="noStrike">
                <a:solidFill>
                  <a:srgbClr val="000000"/>
                </a:solidFill>
                <a:latin typeface="Calibri"/>
                <a:ea typeface="Calibri"/>
                <a:cs typeface="Calibri"/>
                <a:sym typeface="Calibri"/>
              </a:rPr>
              <a:t>within the same Rewarded Soups interpolation family θ*  = θ₀ + Σᵢ λᵢ* δᵢ.</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Proposed variants</a:t>
            </a:r>
            <a:r>
              <a:rPr b="0" i="0" lang="en-US" sz="14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Evaluation:</a:t>
            </a:r>
            <a:endParaRPr b="1"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Primary metric: U</a:t>
            </a:r>
            <a:r>
              <a:rPr b="0" baseline="-25000" i="0" lang="en-US" sz="1400" u="none" cap="none" strike="noStrike">
                <a:solidFill>
                  <a:srgbClr val="000000"/>
                </a:solidFill>
                <a:latin typeface="Calibri"/>
                <a:ea typeface="Calibri"/>
                <a:cs typeface="Calibri"/>
                <a:sym typeface="Calibri"/>
              </a:rPr>
              <a:t>p</a:t>
            </a:r>
            <a:r>
              <a:rPr b="0" i="0" lang="en-US" sz="1400" u="none" cap="none" strike="noStrike">
                <a:solidFill>
                  <a:srgbClr val="000000"/>
                </a:solidFill>
                <a:latin typeface="Calibri"/>
                <a:ea typeface="Calibri"/>
                <a:cs typeface="Calibri"/>
                <a:sym typeface="Calibri"/>
              </a:rPr>
              <a:t>(</a:t>
            </a:r>
            <a:r>
              <a:rPr b="0" i="0" lang="en-US" sz="1400" u="none" cap="none" strike="noStrike">
                <a:solidFill>
                  <a:schemeClr val="dk1"/>
                </a:solidFill>
                <a:latin typeface="Calibri"/>
                <a:ea typeface="Calibri"/>
                <a:cs typeface="Calibri"/>
                <a:sym typeface="Calibri"/>
              </a:rPr>
              <a:t>θ</a:t>
            </a:r>
            <a:r>
              <a:rPr b="0" i="0" lang="en-US" sz="1400" u="none" cap="none" strike="noStrike">
                <a:solidFill>
                  <a:srgbClr val="000000"/>
                </a:solidFill>
                <a:latin typeface="Calibri"/>
                <a:ea typeface="Calibri"/>
                <a:cs typeface="Calibri"/>
                <a:sym typeface="Calibri"/>
              </a:rPr>
              <a:t>(λ*)) = Σⱼ </a:t>
            </a:r>
            <a:r>
              <a:rPr b="0" i="1" lang="en-US" sz="1400" u="none" cap="none" strike="noStrike">
                <a:solidFill>
                  <a:srgbClr val="000000"/>
                </a:solidFill>
                <a:latin typeface="Calibri"/>
                <a:ea typeface="Calibri"/>
                <a:cs typeface="Calibri"/>
                <a:sym typeface="Calibri"/>
              </a:rPr>
              <a:t>pⱼ</a:t>
            </a:r>
            <a:r>
              <a:rPr b="0" i="0" lang="en-US" sz="1400" u="none" cap="none" strike="noStrike">
                <a:solidFill>
                  <a:srgbClr val="000000"/>
                </a:solidFill>
                <a:latin typeface="Calibri"/>
                <a:ea typeface="Calibri"/>
                <a:cs typeface="Calibri"/>
                <a:sym typeface="Calibri"/>
              </a:rPr>
              <a:t> rⱼ(θ(λ*))</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1A2E5A"/>
                </a:solidFill>
                <a:latin typeface="Calibri"/>
                <a:ea typeface="Calibri"/>
                <a:cs typeface="Calibri"/>
                <a:sym typeface="Calibri"/>
              </a:rPr>
              <a:t>U</a:t>
            </a:r>
            <a:r>
              <a:rPr b="0" baseline="-25000" i="0" lang="en-US" sz="1400" u="none" cap="none" strike="noStrike">
                <a:solidFill>
                  <a:srgbClr val="1A2E5A"/>
                </a:solidFill>
                <a:latin typeface="Calibri"/>
                <a:ea typeface="Calibri"/>
                <a:cs typeface="Calibri"/>
                <a:sym typeface="Calibri"/>
              </a:rPr>
              <a:t>p</a:t>
            </a:r>
            <a:r>
              <a:rPr b="0" i="0" lang="en-US" sz="1400" u="none" cap="none" strike="noStrike">
                <a:solidFill>
                  <a:srgbClr val="1A2E5A"/>
                </a:solidFill>
                <a:latin typeface="Calibri"/>
                <a:ea typeface="Calibri"/>
                <a:cs typeface="Calibri"/>
                <a:sym typeface="Calibri"/>
              </a:rPr>
              <a:t>(θ(λ_best)) − U</a:t>
            </a:r>
            <a:r>
              <a:rPr b="0" baseline="-25000" i="0" lang="en-US" sz="1400" u="none" cap="none" strike="noStrike">
                <a:solidFill>
                  <a:srgbClr val="1A2E5A"/>
                </a:solidFill>
                <a:latin typeface="Calibri"/>
                <a:ea typeface="Calibri"/>
                <a:cs typeface="Calibri"/>
                <a:sym typeface="Calibri"/>
              </a:rPr>
              <a:t>p</a:t>
            </a:r>
            <a:r>
              <a:rPr b="0" i="0" lang="en-US" sz="1400" u="none" cap="none" strike="noStrike">
                <a:solidFill>
                  <a:srgbClr val="1A2E5A"/>
                </a:solidFill>
                <a:latin typeface="Calibri"/>
                <a:ea typeface="Calibri"/>
                <a:cs typeface="Calibri"/>
                <a:sym typeface="Calibri"/>
              </a:rPr>
              <a:t>(θ(λ*))</a:t>
            </a:r>
            <a:endParaRPr b="0" i="0" sz="1400" u="none" cap="none" strike="noStrike">
              <a:solidFill>
                <a:srgbClr val="1A2E5A"/>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1A2E5A"/>
                </a:solidFill>
                <a:latin typeface="Calibri"/>
                <a:ea typeface="Calibri"/>
                <a:cs typeface="Calibri"/>
                <a:sym typeface="Calibri"/>
              </a:rPr>
              <a:t>λ_best = argmax</a:t>
            </a:r>
            <a:r>
              <a:rPr b="0" baseline="-25000" i="0" lang="en-US" sz="1400" u="none" cap="none" strike="noStrike">
                <a:solidFill>
                  <a:srgbClr val="1A2E5A"/>
                </a:solidFill>
                <a:latin typeface="Calibri"/>
                <a:ea typeface="Calibri"/>
                <a:cs typeface="Calibri"/>
                <a:sym typeface="Calibri"/>
              </a:rPr>
              <a:t>λ</a:t>
            </a:r>
            <a:r>
              <a:rPr b="0" i="0" lang="en-US" sz="1400" u="none" cap="none" strike="noStrike">
                <a:solidFill>
                  <a:schemeClr val="dk1"/>
                </a:solidFill>
                <a:latin typeface="Calibri"/>
                <a:ea typeface="Calibri"/>
                <a:cs typeface="Calibri"/>
                <a:sym typeface="Calibri"/>
              </a:rPr>
              <a:t>U</a:t>
            </a:r>
            <a:r>
              <a:rPr b="0" baseline="-25000" i="0" lang="en-US" sz="1400" u="none" cap="none" strike="noStrike">
                <a:solidFill>
                  <a:schemeClr val="dk1"/>
                </a:solidFill>
                <a:latin typeface="Calibri"/>
                <a:ea typeface="Calibri"/>
                <a:cs typeface="Calibri"/>
                <a:sym typeface="Calibri"/>
              </a:rPr>
              <a:t>p</a:t>
            </a:r>
            <a:r>
              <a:rPr b="0" i="0" lang="en-US" sz="1400" u="none" cap="none" strike="noStrike">
                <a:solidFill>
                  <a:schemeClr val="dk1"/>
                </a:solidFill>
                <a:latin typeface="Calibri"/>
                <a:ea typeface="Calibri"/>
                <a:cs typeface="Calibri"/>
                <a:sym typeface="Calibri"/>
              </a:rPr>
              <a:t>(θ(</a:t>
            </a:r>
            <a:r>
              <a:rPr b="0" i="0" lang="en-US" sz="1400" u="none" cap="none" strike="noStrike">
                <a:solidFill>
                  <a:srgbClr val="1A2E5A"/>
                </a:solidFill>
                <a:latin typeface="Calibri"/>
                <a:ea typeface="Calibri"/>
                <a:cs typeface="Calibri"/>
                <a:sym typeface="Calibri"/>
              </a:rPr>
              <a:t>λ)</a:t>
            </a:r>
            <a:r>
              <a:rPr b="0" i="0" lang="en-US" sz="1400" u="none" cap="none" strike="noStrike">
                <a:solidFill>
                  <a:schemeClr val="dk1"/>
                </a:solidFill>
                <a:latin typeface="Calibri"/>
                <a:ea typeface="Calibri"/>
                <a:cs typeface="Calibri"/>
                <a:sym typeface="Calibri"/>
              </a:rPr>
              <a:t>)</a:t>
            </a:r>
            <a:endParaRPr b="0" i="0" sz="1400" u="none" cap="none" strike="noStrike">
              <a:solidFill>
                <a:srgbClr val="1A2E5A"/>
              </a:solidFill>
              <a:latin typeface="Calibri"/>
              <a:ea typeface="Calibri"/>
              <a:cs typeface="Calibri"/>
              <a:sym typeface="Calibri"/>
            </a:endParaRPr>
          </a:p>
          <a:p>
            <a:pPr indent="0" lvl="0" marL="0" marR="0" rtl="0" algn="l">
              <a:lnSpc>
                <a:spcPct val="100000"/>
              </a:lnSpc>
              <a:spcBef>
                <a:spcPts val="600"/>
              </a:spcBef>
              <a:spcAft>
                <a:spcPts val="0"/>
              </a:spcAft>
              <a:buClr>
                <a:srgbClr val="000000"/>
              </a:buClr>
              <a:buSzPts val="1100"/>
              <a:buFont typeface="Arial"/>
              <a:buNone/>
            </a:pPr>
            <a:r>
              <a:rPr b="1" i="0" lang="en-US" sz="1100" u="none" cap="none" strike="noStrike">
                <a:solidFill>
                  <a:srgbClr val="1A2E5A"/>
                </a:solidFill>
                <a:latin typeface="Calibri"/>
                <a:ea typeface="Calibri"/>
                <a:cs typeface="Calibri"/>
                <a:sym typeface="Calibri"/>
              </a:rPr>
              <a:t>Baselines: </a:t>
            </a:r>
            <a:r>
              <a:rPr b="0" i="0" lang="en-US" sz="1100" u="none" cap="none" strike="noStrike">
                <a:solidFill>
                  <a:srgbClr val="1A2E5A"/>
                </a:solidFill>
                <a:latin typeface="Calibri"/>
                <a:ea typeface="Calibri"/>
                <a:cs typeface="Calibri"/>
                <a:sym typeface="Calibri"/>
              </a:rPr>
              <a:t>λ = p, uniform 1/m, Sobol/Dirichlet search, projected GD on F_p, λ_best (high-budget)</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000"/>
              <a:buFont typeface="Arial"/>
              <a:buNone/>
            </a:pPr>
            <a:r>
              <a:rPr b="0" i="1" lang="en-US" sz="1000" u="none" cap="none" strike="noStrike">
                <a:solidFill>
                  <a:srgbClr val="616161"/>
                </a:solidFill>
                <a:latin typeface="Calibri"/>
                <a:ea typeface="Calibri"/>
                <a:cs typeface="Calibri"/>
                <a:sym typeface="Calibri"/>
              </a:rPr>
              <a:t>Note: U_p is a reward-space utility; the thesis questions whether p should equal λ in parameter space, not whether p is a valid utility.</a:t>
            </a:r>
            <a:endParaRPr b="0" i="0" sz="1000" u="none" cap="none" strike="noStrike">
              <a:solidFill>
                <a:srgbClr val="000000"/>
              </a:solidFill>
              <a:latin typeface="Calibri"/>
              <a:ea typeface="Calibri"/>
              <a:cs typeface="Calibri"/>
              <a:sym typeface="Calibri"/>
            </a:endParaRPr>
          </a:p>
        </p:txBody>
      </p:sp>
      <p:graphicFrame>
        <p:nvGraphicFramePr>
          <p:cNvPr id="221" name="Google Shape;221;p12"/>
          <p:cNvGraphicFramePr/>
          <p:nvPr/>
        </p:nvGraphicFramePr>
        <p:xfrm>
          <a:off x="1250300" y="1779350"/>
          <a:ext cx="3000000" cy="3000000"/>
        </p:xfrm>
        <a:graphic>
          <a:graphicData uri="http://schemas.openxmlformats.org/drawingml/2006/table">
            <a:tbl>
              <a:tblPr>
                <a:noFill/>
                <a:tableStyleId>{D7CAA638-BD55-46E4-8878-B219BF0B1DA8}</a:tableStyleId>
              </a:tblPr>
              <a:tblGrid>
                <a:gridCol w="2120675"/>
                <a:gridCol w="452272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Variant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Core idea</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MGDA-Soup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coefficient-space gradient balancing (secondary)</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PCGrad-Soup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heuristic projection (optional ablation)</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CAGrad-Soup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preference-anchored conflict-averse update (main)</a:t>
                      </a:r>
                      <a:endParaRPr sz="1400" u="none" cap="none" strike="noStrike"/>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3"/>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3"/>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Research Questions</a:t>
            </a:r>
            <a:endParaRPr b="0" i="0" sz="2200" u="none" cap="none" strike="noStrike">
              <a:solidFill>
                <a:schemeClr val="dk1"/>
              </a:solidFill>
              <a:latin typeface="Calibri"/>
              <a:ea typeface="Calibri"/>
              <a:cs typeface="Calibri"/>
              <a:sym typeface="Calibri"/>
            </a:endParaRPr>
          </a:p>
        </p:txBody>
      </p:sp>
      <p:sp>
        <p:nvSpPr>
          <p:cNvPr id="229" name="Google Shape;229;p13"/>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10 / 11</a:t>
            </a:r>
            <a:endParaRPr b="0" i="0" sz="1000" u="none" cap="none" strike="noStrike">
              <a:solidFill>
                <a:schemeClr val="dk1"/>
              </a:solidFill>
              <a:latin typeface="Calibri"/>
              <a:ea typeface="Calibri"/>
              <a:cs typeface="Calibri"/>
              <a:sym typeface="Calibri"/>
            </a:endParaRPr>
          </a:p>
        </p:txBody>
      </p:sp>
      <p:sp>
        <p:nvSpPr>
          <p:cNvPr id="230" name="Google Shape;230;p13"/>
          <p:cNvSpPr/>
          <p:nvPr/>
        </p:nvSpPr>
        <p:spPr>
          <a:xfrm>
            <a:off x="274320" y="713232"/>
            <a:ext cx="8595360" cy="1005840"/>
          </a:xfrm>
          <a:prstGeom prst="rect">
            <a:avLst/>
          </a:prstGeom>
          <a:solidFill>
            <a:srgbClr val="E8EAF6"/>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3"/>
          <p:cNvSpPr/>
          <p:nvPr/>
        </p:nvSpPr>
        <p:spPr>
          <a:xfrm>
            <a:off x="457200" y="749808"/>
            <a:ext cx="8229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E5A"/>
              </a:buClr>
              <a:buSzPts val="1100"/>
              <a:buFont typeface="Calibri"/>
              <a:buNone/>
            </a:pPr>
            <a:r>
              <a:rPr b="1" i="0" lang="en-US" sz="1100" u="none" cap="none" strike="noStrike">
                <a:solidFill>
                  <a:srgbClr val="1A2E5A"/>
                </a:solidFill>
                <a:latin typeface="Calibri"/>
                <a:ea typeface="Calibri"/>
                <a:cs typeface="Calibri"/>
                <a:sym typeface="Calibri"/>
              </a:rPr>
              <a:t>Overarching Research Question:</a:t>
            </a:r>
            <a:endParaRPr b="0" i="0" sz="1100" u="none" cap="none" strike="noStrike">
              <a:solidFill>
                <a:schemeClr val="dk1"/>
              </a:solidFill>
              <a:latin typeface="Calibri"/>
              <a:ea typeface="Calibri"/>
              <a:cs typeface="Calibri"/>
              <a:sym typeface="Calibri"/>
            </a:endParaRPr>
          </a:p>
        </p:txBody>
      </p:sp>
      <p:sp>
        <p:nvSpPr>
          <p:cNvPr id="232" name="Google Shape;232;p13"/>
          <p:cNvSpPr/>
          <p:nvPr/>
        </p:nvSpPr>
        <p:spPr>
          <a:xfrm>
            <a:off x="457200" y="969264"/>
            <a:ext cx="8229600"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Can conflict-aware and gradient-informed coefficient selection improve preference-conditioned model merging within a fixed Rewarded-Soups-style interpolation family, compared to direct preference interpolation and search-based baselines?</a:t>
            </a:r>
            <a:endParaRPr b="0" i="0" sz="1100" u="none" cap="none" strike="noStrike">
              <a:solidFill>
                <a:schemeClr val="dk1"/>
              </a:solidFill>
              <a:latin typeface="Calibri"/>
              <a:ea typeface="Calibri"/>
              <a:cs typeface="Calibri"/>
              <a:sym typeface="Calibri"/>
            </a:endParaRPr>
          </a:p>
        </p:txBody>
      </p:sp>
      <p:sp>
        <p:nvSpPr>
          <p:cNvPr id="233" name="Google Shape;233;p13"/>
          <p:cNvSpPr/>
          <p:nvPr/>
        </p:nvSpPr>
        <p:spPr>
          <a:xfrm>
            <a:off x="274320" y="1801368"/>
            <a:ext cx="621792" cy="530352"/>
          </a:xfrm>
          <a:prstGeom prst="rect">
            <a:avLst/>
          </a:prstGeom>
          <a:solidFill>
            <a:srgbClr val="0288D1"/>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3"/>
          <p:cNvSpPr/>
          <p:nvPr/>
        </p:nvSpPr>
        <p:spPr>
          <a:xfrm>
            <a:off x="274320" y="1801368"/>
            <a:ext cx="62179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RQ1</a:t>
            </a:r>
            <a:endParaRPr b="0" i="0" sz="1100" u="none" cap="none" strike="noStrike">
              <a:solidFill>
                <a:schemeClr val="dk1"/>
              </a:solidFill>
              <a:latin typeface="Calibri"/>
              <a:ea typeface="Calibri"/>
              <a:cs typeface="Calibri"/>
              <a:sym typeface="Calibri"/>
            </a:endParaRPr>
          </a:p>
        </p:txBody>
      </p:sp>
      <p:sp>
        <p:nvSpPr>
          <p:cNvPr id="235" name="Google Shape;235;p13"/>
          <p:cNvSpPr/>
          <p:nvPr/>
        </p:nvSpPr>
        <p:spPr>
          <a:xfrm>
            <a:off x="960120" y="1801368"/>
            <a:ext cx="7909560" cy="530352"/>
          </a:xfrm>
          <a:prstGeom prst="rect">
            <a:avLst/>
          </a:prstGeom>
          <a:solidFill>
            <a:srgbClr val="FFFFFF"/>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3"/>
          <p:cNvSpPr/>
          <p:nvPr/>
        </p:nvSpPr>
        <p:spPr>
          <a:xfrm>
            <a:off x="1078992" y="1837944"/>
            <a:ext cx="768096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How does direct preference-based coefficient selection (λ = p) behave under different inter-objective relationship structures, such as alignment, conflict, and redundancy? </a:t>
            </a:r>
            <a:endParaRPr b="0" i="0" sz="1100" u="none" cap="none" strike="noStrike">
              <a:solidFill>
                <a:schemeClr val="dk1"/>
              </a:solidFill>
              <a:latin typeface="Calibri"/>
              <a:ea typeface="Calibri"/>
              <a:cs typeface="Calibri"/>
              <a:sym typeface="Calibri"/>
            </a:endParaRPr>
          </a:p>
        </p:txBody>
      </p:sp>
      <p:sp>
        <p:nvSpPr>
          <p:cNvPr id="237" name="Google Shape;237;p13"/>
          <p:cNvSpPr/>
          <p:nvPr/>
        </p:nvSpPr>
        <p:spPr>
          <a:xfrm>
            <a:off x="274320" y="2468880"/>
            <a:ext cx="621792" cy="530352"/>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3"/>
          <p:cNvSpPr/>
          <p:nvPr/>
        </p:nvSpPr>
        <p:spPr>
          <a:xfrm>
            <a:off x="274320" y="2468880"/>
            <a:ext cx="62179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RQ2</a:t>
            </a:r>
            <a:endParaRPr b="0" i="0" sz="1100" u="none" cap="none" strike="noStrike">
              <a:solidFill>
                <a:schemeClr val="dk1"/>
              </a:solidFill>
              <a:latin typeface="Calibri"/>
              <a:ea typeface="Calibri"/>
              <a:cs typeface="Calibri"/>
              <a:sym typeface="Calibri"/>
            </a:endParaRPr>
          </a:p>
        </p:txBody>
      </p:sp>
      <p:sp>
        <p:nvSpPr>
          <p:cNvPr id="239" name="Google Shape;239;p13"/>
          <p:cNvSpPr/>
          <p:nvPr/>
        </p:nvSpPr>
        <p:spPr>
          <a:xfrm>
            <a:off x="960120" y="2468880"/>
            <a:ext cx="7909560" cy="530352"/>
          </a:xfrm>
          <a:prstGeom prst="rect">
            <a:avLst/>
          </a:prstGeom>
          <a:solidFill>
            <a:srgbClr val="FFFFFF"/>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3"/>
          <p:cNvSpPr/>
          <p:nvPr/>
        </p:nvSpPr>
        <p:spPr>
          <a:xfrm>
            <a:off x="1078992" y="2505456"/>
            <a:ext cx="768096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Do conflict-aware coefficient-selection methods reduce within-family regret and improve preference-weighted utility compared to direct preference interpolation and optimization-based baselines under equal budgets? </a:t>
            </a:r>
            <a:endParaRPr b="0" i="0" sz="1100" u="none" cap="none" strike="noStrike">
              <a:solidFill>
                <a:schemeClr val="dk1"/>
              </a:solidFill>
              <a:latin typeface="Calibri"/>
              <a:ea typeface="Calibri"/>
              <a:cs typeface="Calibri"/>
              <a:sym typeface="Calibri"/>
            </a:endParaRPr>
          </a:p>
        </p:txBody>
      </p:sp>
      <p:sp>
        <p:nvSpPr>
          <p:cNvPr id="241" name="Google Shape;241;p13"/>
          <p:cNvSpPr/>
          <p:nvPr/>
        </p:nvSpPr>
        <p:spPr>
          <a:xfrm>
            <a:off x="274320" y="3136392"/>
            <a:ext cx="621792" cy="530352"/>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3"/>
          <p:cNvSpPr/>
          <p:nvPr/>
        </p:nvSpPr>
        <p:spPr>
          <a:xfrm>
            <a:off x="274320" y="3136392"/>
            <a:ext cx="62179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RQ3</a:t>
            </a:r>
            <a:endParaRPr b="0" i="0" sz="1100" u="none" cap="none" strike="noStrike">
              <a:solidFill>
                <a:schemeClr val="dk1"/>
              </a:solidFill>
              <a:latin typeface="Calibri"/>
              <a:ea typeface="Calibri"/>
              <a:cs typeface="Calibri"/>
              <a:sym typeface="Calibri"/>
            </a:endParaRPr>
          </a:p>
        </p:txBody>
      </p:sp>
      <p:sp>
        <p:nvSpPr>
          <p:cNvPr id="243" name="Google Shape;243;p13"/>
          <p:cNvSpPr/>
          <p:nvPr/>
        </p:nvSpPr>
        <p:spPr>
          <a:xfrm>
            <a:off x="960120" y="3136392"/>
            <a:ext cx="7909560" cy="530352"/>
          </a:xfrm>
          <a:prstGeom prst="rect">
            <a:avLst/>
          </a:prstGeom>
          <a:solidFill>
            <a:srgbClr val="FFFFFF"/>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3"/>
          <p:cNvSpPr/>
          <p:nvPr/>
        </p:nvSpPr>
        <p:spPr>
          <a:xfrm>
            <a:off x="1078992" y="3172968"/>
            <a:ext cx="768096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Does conflict-aware coefficient correction preserve per-objective reward quality and reduce worst-case objective degradation compared to direct preference interpolation? </a:t>
            </a:r>
            <a:endParaRPr b="0" i="0" sz="1100" u="none" cap="none" strike="noStrike">
              <a:solidFill>
                <a:schemeClr val="dk1"/>
              </a:solidFill>
              <a:latin typeface="Calibri"/>
              <a:ea typeface="Calibri"/>
              <a:cs typeface="Calibri"/>
              <a:sym typeface="Calibri"/>
            </a:endParaRPr>
          </a:p>
        </p:txBody>
      </p:sp>
      <p:sp>
        <p:nvSpPr>
          <p:cNvPr id="245" name="Google Shape;245;p13"/>
          <p:cNvSpPr/>
          <p:nvPr/>
        </p:nvSpPr>
        <p:spPr>
          <a:xfrm>
            <a:off x="274320" y="3803904"/>
            <a:ext cx="621792" cy="530352"/>
          </a:xfrm>
          <a:prstGeom prst="rect">
            <a:avLst/>
          </a:prstGeom>
          <a:solidFill>
            <a:srgbClr val="FF6F00"/>
          </a:solidFill>
          <a:ln cap="flat" cmpd="sng" w="12700">
            <a:solidFill>
              <a:srgbClr val="FF6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3"/>
          <p:cNvSpPr/>
          <p:nvPr/>
        </p:nvSpPr>
        <p:spPr>
          <a:xfrm>
            <a:off x="274320" y="3803904"/>
            <a:ext cx="62179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RQ4</a:t>
            </a:r>
            <a:endParaRPr b="0" i="0" sz="1100" u="none" cap="none" strike="noStrike">
              <a:solidFill>
                <a:schemeClr val="dk1"/>
              </a:solidFill>
              <a:latin typeface="Calibri"/>
              <a:ea typeface="Calibri"/>
              <a:cs typeface="Calibri"/>
              <a:sym typeface="Calibri"/>
            </a:endParaRPr>
          </a:p>
        </p:txBody>
      </p:sp>
      <p:sp>
        <p:nvSpPr>
          <p:cNvPr id="247" name="Google Shape;247;p13"/>
          <p:cNvSpPr/>
          <p:nvPr/>
        </p:nvSpPr>
        <p:spPr>
          <a:xfrm>
            <a:off x="960120" y="3803904"/>
            <a:ext cx="7909560" cy="530352"/>
          </a:xfrm>
          <a:prstGeom prst="rect">
            <a:avLst/>
          </a:prstGeom>
          <a:solidFill>
            <a:srgbClr val="FFFFFF"/>
          </a:solidFill>
          <a:ln cap="flat" cmpd="sng" w="12700">
            <a:solidFill>
              <a:srgbClr val="FF6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3"/>
          <p:cNvSpPr/>
          <p:nvPr/>
        </p:nvSpPr>
        <p:spPr>
          <a:xfrm>
            <a:off x="1078992" y="3840480"/>
            <a:ext cx="768096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Under which inter-objective relationship structures (alignment or suppression) does conflict-aware coefficient correction provide the largest benefit over standard Rewarded-Soups-style interpolation?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4"/>
          <p:cNvSpPr/>
          <p:nvPr/>
        </p:nvSpPr>
        <p:spPr>
          <a:xfrm>
            <a:off x="0" y="0"/>
            <a:ext cx="9144000" cy="566928"/>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4"/>
          <p:cNvSpPr/>
          <p:nvPr/>
        </p:nvSpPr>
        <p:spPr>
          <a:xfrm>
            <a:off x="320040" y="0"/>
            <a:ext cx="777240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Timeline</a:t>
            </a:r>
            <a:endParaRPr b="0" i="0" sz="2200" u="none" cap="none" strike="noStrike">
              <a:solidFill>
                <a:schemeClr val="dk1"/>
              </a:solidFill>
              <a:latin typeface="Calibri"/>
              <a:ea typeface="Calibri"/>
              <a:cs typeface="Calibri"/>
              <a:sym typeface="Calibri"/>
            </a:endParaRPr>
          </a:p>
        </p:txBody>
      </p:sp>
      <p:sp>
        <p:nvSpPr>
          <p:cNvPr id="256" name="Google Shape;256;p14"/>
          <p:cNvSpPr/>
          <p:nvPr/>
        </p:nvSpPr>
        <p:spPr>
          <a:xfrm>
            <a:off x="8138160" y="0"/>
            <a:ext cx="914400" cy="56692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11 / 11</a:t>
            </a:r>
            <a:endParaRPr b="0" i="0" sz="1000" u="none" cap="none" strike="noStrike">
              <a:solidFill>
                <a:schemeClr val="dk1"/>
              </a:solidFill>
              <a:latin typeface="Calibri"/>
              <a:ea typeface="Calibri"/>
              <a:cs typeface="Calibri"/>
              <a:sym typeface="Calibri"/>
            </a:endParaRPr>
          </a:p>
        </p:txBody>
      </p:sp>
      <p:sp>
        <p:nvSpPr>
          <p:cNvPr id="257" name="Google Shape;257;p14"/>
          <p:cNvSpPr/>
          <p:nvPr/>
        </p:nvSpPr>
        <p:spPr>
          <a:xfrm>
            <a:off x="274320" y="749808"/>
            <a:ext cx="411480" cy="502920"/>
          </a:xfrm>
          <a:prstGeom prst="rect">
            <a:avLst/>
          </a:prstGeom>
          <a:solidFill>
            <a:srgbClr val="0288D1"/>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4"/>
          <p:cNvSpPr/>
          <p:nvPr/>
        </p:nvSpPr>
        <p:spPr>
          <a:xfrm>
            <a:off x="274320" y="749808"/>
            <a:ext cx="41148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59" name="Google Shape;259;p14"/>
          <p:cNvSpPr/>
          <p:nvPr/>
        </p:nvSpPr>
        <p:spPr>
          <a:xfrm>
            <a:off x="858935" y="749808"/>
            <a:ext cx="5394900" cy="502800"/>
          </a:xfrm>
          <a:prstGeom prst="rect">
            <a:avLst/>
          </a:prstGeom>
          <a:solidFill>
            <a:srgbClr val="FFFFFF"/>
          </a:solidFill>
          <a:ln cap="flat" cmpd="sng" w="12700">
            <a:solidFill>
              <a:srgbClr val="028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4"/>
          <p:cNvSpPr/>
          <p:nvPr/>
        </p:nvSpPr>
        <p:spPr>
          <a:xfrm>
            <a:off x="950375" y="786384"/>
            <a:ext cx="52578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Literature review and thesis framing </a:t>
            </a:r>
            <a:endParaRPr b="0" i="0" sz="1000" u="none" cap="none" strike="noStrike">
              <a:solidFill>
                <a:schemeClr val="dk1"/>
              </a:solidFill>
              <a:latin typeface="Calibri"/>
              <a:ea typeface="Calibri"/>
              <a:cs typeface="Calibri"/>
              <a:sym typeface="Calibri"/>
            </a:endParaRPr>
          </a:p>
        </p:txBody>
      </p:sp>
      <p:sp>
        <p:nvSpPr>
          <p:cNvPr id="261" name="Google Shape;261;p14"/>
          <p:cNvSpPr/>
          <p:nvPr/>
        </p:nvSpPr>
        <p:spPr>
          <a:xfrm>
            <a:off x="274320" y="1371600"/>
            <a:ext cx="411480" cy="50292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4"/>
          <p:cNvSpPr/>
          <p:nvPr/>
        </p:nvSpPr>
        <p:spPr>
          <a:xfrm>
            <a:off x="274320" y="1371600"/>
            <a:ext cx="41148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63" name="Google Shape;263;p14"/>
          <p:cNvSpPr/>
          <p:nvPr/>
        </p:nvSpPr>
        <p:spPr>
          <a:xfrm>
            <a:off x="858935" y="1371600"/>
            <a:ext cx="5394900" cy="502800"/>
          </a:xfrm>
          <a:prstGeom prst="rect">
            <a:avLst/>
          </a:prstGeom>
          <a:solidFill>
            <a:srgbClr val="FFFFFF"/>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4"/>
          <p:cNvSpPr/>
          <p:nvPr/>
        </p:nvSpPr>
        <p:spPr>
          <a:xfrm>
            <a:off x="950375" y="1408176"/>
            <a:ext cx="52578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Formalize the proposed method </a:t>
            </a:r>
            <a:endParaRPr b="0" i="0" sz="1000" u="none" cap="none" strike="noStrike">
              <a:solidFill>
                <a:schemeClr val="dk1"/>
              </a:solidFill>
              <a:latin typeface="Calibri"/>
              <a:ea typeface="Calibri"/>
              <a:cs typeface="Calibri"/>
              <a:sym typeface="Calibri"/>
            </a:endParaRPr>
          </a:p>
        </p:txBody>
      </p:sp>
      <p:sp>
        <p:nvSpPr>
          <p:cNvPr id="265" name="Google Shape;265;p14"/>
          <p:cNvSpPr/>
          <p:nvPr/>
        </p:nvSpPr>
        <p:spPr>
          <a:xfrm>
            <a:off x="274320" y="1993392"/>
            <a:ext cx="411480" cy="502920"/>
          </a:xfrm>
          <a:prstGeom prst="rect">
            <a:avLst/>
          </a:prstGeom>
          <a:solidFill>
            <a:srgbClr val="FF6F00"/>
          </a:solidFill>
          <a:ln cap="flat" cmpd="sng" w="12700">
            <a:solidFill>
              <a:srgbClr val="FF6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4"/>
          <p:cNvSpPr/>
          <p:nvPr/>
        </p:nvSpPr>
        <p:spPr>
          <a:xfrm>
            <a:off x="274320" y="1993392"/>
            <a:ext cx="41148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67" name="Google Shape;267;p14"/>
          <p:cNvSpPr/>
          <p:nvPr/>
        </p:nvSpPr>
        <p:spPr>
          <a:xfrm>
            <a:off x="858935" y="1993392"/>
            <a:ext cx="5394900" cy="502800"/>
          </a:xfrm>
          <a:prstGeom prst="rect">
            <a:avLst/>
          </a:prstGeom>
          <a:solidFill>
            <a:srgbClr val="FFFFFF"/>
          </a:solidFill>
          <a:ln cap="flat" cmpd="sng" w="12700">
            <a:solidFill>
              <a:srgbClr val="FF6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4"/>
          <p:cNvSpPr/>
          <p:nvPr/>
        </p:nvSpPr>
        <p:spPr>
          <a:xfrm>
            <a:off x="950375" y="2029968"/>
            <a:ext cx="52578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Prepare data, models, and reward setup </a:t>
            </a:r>
            <a:endParaRPr b="0" i="0" sz="1000" u="none" cap="none" strike="noStrike">
              <a:solidFill>
                <a:schemeClr val="dk1"/>
              </a:solidFill>
              <a:latin typeface="Calibri"/>
              <a:ea typeface="Calibri"/>
              <a:cs typeface="Calibri"/>
              <a:sym typeface="Calibri"/>
            </a:endParaRPr>
          </a:p>
        </p:txBody>
      </p:sp>
      <p:sp>
        <p:nvSpPr>
          <p:cNvPr id="269" name="Google Shape;269;p14"/>
          <p:cNvSpPr/>
          <p:nvPr/>
        </p:nvSpPr>
        <p:spPr>
          <a:xfrm>
            <a:off x="274320" y="2615184"/>
            <a:ext cx="411480" cy="502920"/>
          </a:xfrm>
          <a:prstGeom prst="rect">
            <a:avLst/>
          </a:prstGeom>
          <a:solidFill>
            <a:srgbClr val="1A2E5A"/>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4"/>
          <p:cNvSpPr/>
          <p:nvPr/>
        </p:nvSpPr>
        <p:spPr>
          <a:xfrm>
            <a:off x="274320" y="2615184"/>
            <a:ext cx="41148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71" name="Google Shape;271;p14"/>
          <p:cNvSpPr/>
          <p:nvPr/>
        </p:nvSpPr>
        <p:spPr>
          <a:xfrm>
            <a:off x="858935" y="2615184"/>
            <a:ext cx="5394900" cy="502800"/>
          </a:xfrm>
          <a:prstGeom prst="rect">
            <a:avLst/>
          </a:prstGeom>
          <a:solidFill>
            <a:srgbClr val="FFFFFF"/>
          </a:solidFill>
          <a:ln cap="flat" cmpd="sng" w="12700">
            <a:solidFill>
              <a:srgbClr val="1A2E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4"/>
          <p:cNvSpPr/>
          <p:nvPr/>
        </p:nvSpPr>
        <p:spPr>
          <a:xfrm>
            <a:off x="950375" y="2651760"/>
            <a:ext cx="52578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Implement Rewarded-Soups baselines </a:t>
            </a:r>
            <a:endParaRPr b="0" i="0" sz="1000" u="none" cap="none" strike="noStrike">
              <a:solidFill>
                <a:schemeClr val="dk1"/>
              </a:solidFill>
              <a:latin typeface="Calibri"/>
              <a:ea typeface="Calibri"/>
              <a:cs typeface="Calibri"/>
              <a:sym typeface="Calibri"/>
            </a:endParaRPr>
          </a:p>
        </p:txBody>
      </p:sp>
      <p:sp>
        <p:nvSpPr>
          <p:cNvPr id="273" name="Google Shape;273;p14"/>
          <p:cNvSpPr/>
          <p:nvPr/>
        </p:nvSpPr>
        <p:spPr>
          <a:xfrm>
            <a:off x="274320" y="3236976"/>
            <a:ext cx="411480" cy="50292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4"/>
          <p:cNvSpPr/>
          <p:nvPr/>
        </p:nvSpPr>
        <p:spPr>
          <a:xfrm>
            <a:off x="274320" y="3236976"/>
            <a:ext cx="41148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275" name="Google Shape;275;p14"/>
          <p:cNvSpPr/>
          <p:nvPr/>
        </p:nvSpPr>
        <p:spPr>
          <a:xfrm>
            <a:off x="858935" y="3236976"/>
            <a:ext cx="5394900" cy="502800"/>
          </a:xfrm>
          <a:prstGeom prst="rect">
            <a:avLst/>
          </a:prstGeom>
          <a:solidFill>
            <a:srgbClr val="FFFFFF"/>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4"/>
          <p:cNvSpPr/>
          <p:nvPr/>
        </p:nvSpPr>
        <p:spPr>
          <a:xfrm>
            <a:off x="950375" y="3273552"/>
            <a:ext cx="52578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Implement conflict-aware variants </a:t>
            </a:r>
            <a:endParaRPr b="0" i="0" sz="1000" u="none" cap="none" strike="noStrike">
              <a:solidFill>
                <a:schemeClr val="dk1"/>
              </a:solidFill>
              <a:latin typeface="Calibri"/>
              <a:ea typeface="Calibri"/>
              <a:cs typeface="Calibri"/>
              <a:sym typeface="Calibri"/>
            </a:endParaRPr>
          </a:p>
        </p:txBody>
      </p:sp>
      <p:sp>
        <p:nvSpPr>
          <p:cNvPr id="277" name="Google Shape;277;p14"/>
          <p:cNvSpPr/>
          <p:nvPr/>
        </p:nvSpPr>
        <p:spPr>
          <a:xfrm>
            <a:off x="274320" y="3858768"/>
            <a:ext cx="411480" cy="502920"/>
          </a:xfrm>
          <a:prstGeom prst="rect">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4"/>
          <p:cNvSpPr/>
          <p:nvPr/>
        </p:nvSpPr>
        <p:spPr>
          <a:xfrm>
            <a:off x="274320" y="3858768"/>
            <a:ext cx="41148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279" name="Google Shape;279;p14"/>
          <p:cNvSpPr/>
          <p:nvPr/>
        </p:nvSpPr>
        <p:spPr>
          <a:xfrm>
            <a:off x="858935" y="3858768"/>
            <a:ext cx="5394900" cy="502800"/>
          </a:xfrm>
          <a:prstGeom prst="rect">
            <a:avLst/>
          </a:prstGeom>
          <a:solidFill>
            <a:srgbClr val="FFFFFF"/>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4"/>
          <p:cNvSpPr/>
          <p:nvPr/>
        </p:nvSpPr>
        <p:spPr>
          <a:xfrm>
            <a:off x="950375" y="3895344"/>
            <a:ext cx="52578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Run experiments and compare methods </a:t>
            </a:r>
            <a:endParaRPr b="0" i="0" sz="1000" u="none" cap="none" strike="noStrike">
              <a:solidFill>
                <a:schemeClr val="dk1"/>
              </a:solidFill>
              <a:latin typeface="Calibri"/>
              <a:ea typeface="Calibri"/>
              <a:cs typeface="Calibri"/>
              <a:sym typeface="Calibri"/>
            </a:endParaRPr>
          </a:p>
        </p:txBody>
      </p:sp>
      <p:sp>
        <p:nvSpPr>
          <p:cNvPr id="281" name="Google Shape;281;p14"/>
          <p:cNvSpPr/>
          <p:nvPr/>
        </p:nvSpPr>
        <p:spPr>
          <a:xfrm>
            <a:off x="274320" y="4480560"/>
            <a:ext cx="411480" cy="502920"/>
          </a:xfrm>
          <a:prstGeom prst="rect">
            <a:avLst/>
          </a:prstGeom>
          <a:solidFill>
            <a:srgbClr val="546E7A"/>
          </a:solidFill>
          <a:ln cap="flat" cmpd="sng" w="12700">
            <a:solidFill>
              <a:srgbClr val="546E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4"/>
          <p:cNvSpPr/>
          <p:nvPr/>
        </p:nvSpPr>
        <p:spPr>
          <a:xfrm>
            <a:off x="274320" y="4480560"/>
            <a:ext cx="41148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7</a:t>
            </a:r>
            <a:endParaRPr b="0" i="0" sz="1300" u="none" cap="none" strike="noStrike">
              <a:solidFill>
                <a:schemeClr val="dk1"/>
              </a:solidFill>
              <a:latin typeface="Calibri"/>
              <a:ea typeface="Calibri"/>
              <a:cs typeface="Calibri"/>
              <a:sym typeface="Calibri"/>
            </a:endParaRPr>
          </a:p>
        </p:txBody>
      </p:sp>
      <p:sp>
        <p:nvSpPr>
          <p:cNvPr id="283" name="Google Shape;283;p14"/>
          <p:cNvSpPr/>
          <p:nvPr/>
        </p:nvSpPr>
        <p:spPr>
          <a:xfrm>
            <a:off x="858935" y="4480560"/>
            <a:ext cx="5394900" cy="502800"/>
          </a:xfrm>
          <a:prstGeom prst="rect">
            <a:avLst/>
          </a:prstGeom>
          <a:solidFill>
            <a:srgbClr val="FFFFFF"/>
          </a:solidFill>
          <a:ln cap="flat" cmpd="sng" w="12700">
            <a:solidFill>
              <a:srgbClr val="546E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4"/>
          <p:cNvSpPr/>
          <p:nvPr/>
        </p:nvSpPr>
        <p:spPr>
          <a:xfrm>
            <a:off x="950375" y="4517136"/>
            <a:ext cx="52578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2E"/>
              </a:buClr>
              <a:buSzPts val="1000"/>
              <a:buFont typeface="Calibri"/>
              <a:buNone/>
            </a:pPr>
            <a:r>
              <a:rPr b="0" i="0" lang="en-US" sz="1000" u="none" cap="none" strike="noStrike">
                <a:solidFill>
                  <a:srgbClr val="1A1A2E"/>
                </a:solidFill>
                <a:latin typeface="Calibri"/>
                <a:ea typeface="Calibri"/>
                <a:cs typeface="Calibri"/>
                <a:sym typeface="Calibri"/>
              </a:rPr>
              <a:t>Analyze results and write thesis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